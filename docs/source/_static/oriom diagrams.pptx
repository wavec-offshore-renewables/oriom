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59" y="5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427AE-97C0-5B33-9752-F5F655BA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0F7DDDE-B157-4218-7070-9C074E23E1C0}"/>
              </a:ext>
            </a:extLst>
          </p:cNvPr>
          <p:cNvGrpSpPr/>
          <p:nvPr/>
        </p:nvGrpSpPr>
        <p:grpSpPr>
          <a:xfrm>
            <a:off x="2675544" y="401118"/>
            <a:ext cx="9162536" cy="6107083"/>
            <a:chOff x="2692007" y="418712"/>
            <a:chExt cx="9162536" cy="6107083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BB5B6CA0-F12C-2826-C0F3-26C6D51354E1}"/>
                </a:ext>
              </a:extLst>
            </p:cNvPr>
            <p:cNvSpPr/>
            <p:nvPr/>
          </p:nvSpPr>
          <p:spPr>
            <a:xfrm>
              <a:off x="2952824" y="563095"/>
              <a:ext cx="3408116" cy="221036"/>
            </a:xfrm>
            <a:prstGeom prst="roundRect">
              <a:avLst/>
            </a:prstGeom>
            <a:solidFill>
              <a:srgbClr val="F2F2F2"/>
            </a:solidFill>
            <a:ln w="1905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b="1" dirty="0">
                  <a:solidFill>
                    <a:srgbClr val="000000"/>
                  </a:solidFill>
                </a:rPr>
                <a:t>TOWING CAMPAIGN START</a:t>
              </a:r>
              <a:endParaRPr sz="1200" b="1" dirty="0">
                <a:solidFill>
                  <a:srgbClr val="000000"/>
                </a:solidFill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FAB354B-5E2B-2916-5DB1-EC8AE6E359FF}"/>
                </a:ext>
              </a:extLst>
            </p:cNvPr>
            <p:cNvSpPr/>
            <p:nvPr/>
          </p:nvSpPr>
          <p:spPr>
            <a:xfrm>
              <a:off x="6170507" y="1600201"/>
              <a:ext cx="3408116" cy="221036"/>
            </a:xfrm>
            <a:prstGeom prst="roundRect">
              <a:avLst/>
            </a:prstGeom>
            <a:solidFill>
              <a:srgbClr val="FCE4D6"/>
            </a:solidFill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Mobilise</a:t>
              </a:r>
              <a:r>
                <a:rPr lang="en-US" sz="1200" dirty="0"/>
                <a:t> </a:t>
              </a:r>
              <a:r>
                <a:rPr lang="en-US" sz="1200" dirty="0">
                  <a:solidFill>
                    <a:srgbClr val="000000"/>
                  </a:solidFill>
                </a:rPr>
                <a:t> Vessels</a:t>
              </a:r>
              <a:endParaRPr sz="1200" dirty="0">
                <a:solidFill>
                  <a:srgbClr val="000000"/>
                </a:solidFill>
              </a:endParaRPr>
            </a:p>
          </p:txBody>
        </p:sp>
        <p:cxnSp>
          <p:nvCxnSpPr>
            <p:cNvPr id="7" name="Connector 6">
              <a:extLst>
                <a:ext uri="{FF2B5EF4-FFF2-40B4-BE49-F238E27FC236}">
                  <a16:creationId xmlns:a16="http://schemas.microsoft.com/office/drawing/2014/main" id="{C5E284E6-A29F-9816-0968-B58F02B45670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>
            <a:xfrm>
              <a:off x="7874565" y="1821237"/>
              <a:ext cx="0" cy="281884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8F49149-0158-E4A5-5F66-26829634961C}"/>
                </a:ext>
              </a:extLst>
            </p:cNvPr>
            <p:cNvSpPr/>
            <p:nvPr/>
          </p:nvSpPr>
          <p:spPr>
            <a:xfrm>
              <a:off x="6170507" y="2103121"/>
              <a:ext cx="3408116" cy="221036"/>
            </a:xfrm>
            <a:prstGeom prst="roundRect">
              <a:avLst/>
            </a:prstGeom>
            <a:solidFill>
              <a:srgbClr val="FCE4D6"/>
            </a:solidFill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Select Turbine to operate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F1CA8B1-322C-08AB-4248-681BBD7A6A37}"/>
                </a:ext>
              </a:extLst>
            </p:cNvPr>
            <p:cNvSpPr/>
            <p:nvPr/>
          </p:nvSpPr>
          <p:spPr>
            <a:xfrm>
              <a:off x="6170507" y="2606041"/>
              <a:ext cx="3408116" cy="221036"/>
            </a:xfrm>
            <a:prstGeom prst="roundRect">
              <a:avLst/>
            </a:prstGeom>
            <a:solidFill>
              <a:srgbClr val="DDEBF7"/>
            </a:solidFill>
            <a:ln w="1905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Electric disconnection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1B5E4CE-4ECB-9AB6-53D5-FA6BB5489B79}"/>
                </a:ext>
              </a:extLst>
            </p:cNvPr>
            <p:cNvSpPr/>
            <p:nvPr/>
          </p:nvSpPr>
          <p:spPr>
            <a:xfrm>
              <a:off x="6170507" y="3135264"/>
              <a:ext cx="3408116" cy="221036"/>
            </a:xfrm>
            <a:prstGeom prst="roundRect">
              <a:avLst/>
            </a:prstGeom>
            <a:solidFill>
              <a:srgbClr val="DDEBF7"/>
            </a:solidFill>
            <a:ln w="1905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b="0" dirty="0">
                  <a:solidFill>
                    <a:srgbClr val="000000"/>
                  </a:solidFill>
                </a:rPr>
                <a:t>Mooring disconnection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8842325-CD41-4F6E-FA7C-E64C980B5576}"/>
                </a:ext>
              </a:extLst>
            </p:cNvPr>
            <p:cNvSpPr/>
            <p:nvPr/>
          </p:nvSpPr>
          <p:spPr>
            <a:xfrm>
              <a:off x="6170507" y="3645296"/>
              <a:ext cx="3408116" cy="221036"/>
            </a:xfrm>
            <a:prstGeom prst="roundRect">
              <a:avLst/>
            </a:prstGeom>
            <a:solidFill>
              <a:srgbClr val="E2EFDA"/>
            </a:solidFill>
            <a:ln w="1905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TTP</a:t>
              </a:r>
              <a:endParaRPr sz="1200" dirty="0">
                <a:solidFill>
                  <a:srgbClr val="000000"/>
                </a:solidFill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48580F9-F3B7-C164-0084-2EA21D5E0E87}"/>
                </a:ext>
              </a:extLst>
            </p:cNvPr>
            <p:cNvSpPr/>
            <p:nvPr/>
          </p:nvSpPr>
          <p:spPr>
            <a:xfrm>
              <a:off x="6170507" y="4148217"/>
              <a:ext cx="3408116" cy="221036"/>
            </a:xfrm>
            <a:prstGeom prst="roundRect">
              <a:avLst/>
            </a:prstGeom>
            <a:solidFill>
              <a:srgbClr val="FCE4D6"/>
            </a:solidFill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MCE at port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355F4AE6-A83E-A4E5-F521-C2D595A1C667}"/>
                </a:ext>
              </a:extLst>
            </p:cNvPr>
            <p:cNvSpPr/>
            <p:nvPr/>
          </p:nvSpPr>
          <p:spPr>
            <a:xfrm>
              <a:off x="6170507" y="4651137"/>
              <a:ext cx="3408116" cy="221036"/>
            </a:xfrm>
            <a:prstGeom prst="roundRect">
              <a:avLst/>
            </a:prstGeom>
            <a:solidFill>
              <a:srgbClr val="E2EFDA"/>
            </a:solidFill>
            <a:ln w="1905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b="0" dirty="0">
                  <a:solidFill>
                    <a:srgbClr val="000000"/>
                  </a:solidFill>
                </a:rPr>
                <a:t>TTS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7FAD314C-FC2A-AE2B-1A3A-3CCF530AC9CC}"/>
                </a:ext>
              </a:extLst>
            </p:cNvPr>
            <p:cNvSpPr/>
            <p:nvPr/>
          </p:nvSpPr>
          <p:spPr>
            <a:xfrm>
              <a:off x="6170507" y="5160407"/>
              <a:ext cx="3408116" cy="221036"/>
            </a:xfrm>
            <a:prstGeom prst="roundRect">
              <a:avLst/>
            </a:prstGeom>
            <a:solidFill>
              <a:srgbClr val="DDEBF7"/>
            </a:solidFill>
            <a:ln w="1905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Mooring Connection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  <p:sp>
          <p:nvSpPr>
            <p:cNvPr id="25" name="Rounded Rectangle 19">
              <a:extLst>
                <a:ext uri="{FF2B5EF4-FFF2-40B4-BE49-F238E27FC236}">
                  <a16:creationId xmlns:a16="http://schemas.microsoft.com/office/drawing/2014/main" id="{78077822-0FD4-6091-0AF1-F40BA49FD9A3}"/>
                </a:ext>
              </a:extLst>
            </p:cNvPr>
            <p:cNvSpPr/>
            <p:nvPr/>
          </p:nvSpPr>
          <p:spPr>
            <a:xfrm>
              <a:off x="6170507" y="5582979"/>
              <a:ext cx="3408116" cy="221036"/>
            </a:xfrm>
            <a:prstGeom prst="roundRect">
              <a:avLst/>
            </a:prstGeom>
            <a:solidFill>
              <a:srgbClr val="DDEBF7"/>
            </a:solidFill>
            <a:ln w="1905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Electric Connection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  <p:sp>
          <p:nvSpPr>
            <p:cNvPr id="27" name="Rounded Rectangle 19">
              <a:extLst>
                <a:ext uri="{FF2B5EF4-FFF2-40B4-BE49-F238E27FC236}">
                  <a16:creationId xmlns:a16="http://schemas.microsoft.com/office/drawing/2014/main" id="{E8576195-C145-361C-E880-A9508AA84CEF}"/>
                </a:ext>
              </a:extLst>
            </p:cNvPr>
            <p:cNvSpPr/>
            <p:nvPr/>
          </p:nvSpPr>
          <p:spPr>
            <a:xfrm>
              <a:off x="6170507" y="6056206"/>
              <a:ext cx="3408116" cy="221036"/>
            </a:xfrm>
            <a:prstGeom prst="roundRect">
              <a:avLst/>
            </a:prstGeom>
            <a:solidFill>
              <a:srgbClr val="DDEBF7"/>
            </a:solidFill>
            <a:ln w="1905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Recommissioning Connection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  <p:sp>
          <p:nvSpPr>
            <p:cNvPr id="36" name="Rounded Rectangle 3">
              <a:extLst>
                <a:ext uri="{FF2B5EF4-FFF2-40B4-BE49-F238E27FC236}">
                  <a16:creationId xmlns:a16="http://schemas.microsoft.com/office/drawing/2014/main" id="{FB08120D-B348-A42A-8BC3-5E85F4215740}"/>
                </a:ext>
              </a:extLst>
            </p:cNvPr>
            <p:cNvSpPr/>
            <p:nvPr/>
          </p:nvSpPr>
          <p:spPr>
            <a:xfrm>
              <a:off x="2952824" y="1085766"/>
              <a:ext cx="3408116" cy="221036"/>
            </a:xfrm>
            <a:prstGeom prst="roundRect">
              <a:avLst/>
            </a:prstGeom>
            <a:solidFill>
              <a:srgbClr val="F2F2F2"/>
            </a:solidFill>
            <a:ln w="1905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Any Operation to be conducted</a:t>
              </a:r>
              <a:endParaRPr sz="1200" dirty="0">
                <a:solidFill>
                  <a:srgbClr val="000000"/>
                </a:solidFill>
              </a:endParaRPr>
            </a:p>
          </p:txBody>
        </p:sp>
        <p:sp>
          <p:nvSpPr>
            <p:cNvPr id="68" name="Rounded Rectangle 3">
              <a:extLst>
                <a:ext uri="{FF2B5EF4-FFF2-40B4-BE49-F238E27FC236}">
                  <a16:creationId xmlns:a16="http://schemas.microsoft.com/office/drawing/2014/main" id="{9B77BE94-7E80-1553-1279-02A610E0BB1F}"/>
                </a:ext>
              </a:extLst>
            </p:cNvPr>
            <p:cNvSpPr/>
            <p:nvPr/>
          </p:nvSpPr>
          <p:spPr>
            <a:xfrm>
              <a:off x="7027908" y="555867"/>
              <a:ext cx="3408116" cy="221036"/>
            </a:xfrm>
            <a:prstGeom prst="roundRect">
              <a:avLst/>
            </a:prstGeom>
            <a:solidFill>
              <a:srgbClr val="F2F2F2"/>
            </a:solidFill>
            <a:ln w="1905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b="1" dirty="0">
                  <a:solidFill>
                    <a:srgbClr val="000000"/>
                  </a:solidFill>
                </a:rPr>
                <a:t>END OF TOWING CAMPAIGN</a:t>
              </a:r>
              <a:endParaRPr sz="1200" b="1" dirty="0">
                <a:solidFill>
                  <a:srgbClr val="000000"/>
                </a:solidFill>
              </a:endParaRPr>
            </a:p>
          </p:txBody>
        </p:sp>
        <p:cxnSp>
          <p:nvCxnSpPr>
            <p:cNvPr id="72" name="Connector: Elbow 71">
              <a:extLst>
                <a:ext uri="{FF2B5EF4-FFF2-40B4-BE49-F238E27FC236}">
                  <a16:creationId xmlns:a16="http://schemas.microsoft.com/office/drawing/2014/main" id="{6488EEA7-6309-3DAE-7A44-42C86ECFD543}"/>
                </a:ext>
              </a:extLst>
            </p:cNvPr>
            <p:cNvCxnSpPr>
              <a:cxnSpLocks/>
              <a:stCxn id="36" idx="3"/>
              <a:endCxn id="6" idx="0"/>
            </p:cNvCxnSpPr>
            <p:nvPr/>
          </p:nvCxnSpPr>
          <p:spPr>
            <a:xfrm>
              <a:off x="6360940" y="1196284"/>
              <a:ext cx="1513625" cy="403917"/>
            </a:xfrm>
            <a:prstGeom prst="bentConnector2">
              <a:avLst/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: Elbow 106">
              <a:extLst>
                <a:ext uri="{FF2B5EF4-FFF2-40B4-BE49-F238E27FC236}">
                  <a16:creationId xmlns:a16="http://schemas.microsoft.com/office/drawing/2014/main" id="{7353829B-9057-C035-A7E5-45050679FC1A}"/>
                </a:ext>
              </a:extLst>
            </p:cNvPr>
            <p:cNvCxnSpPr>
              <a:cxnSpLocks/>
              <a:stCxn id="4" idx="2"/>
              <a:endCxn id="36" idx="0"/>
            </p:cNvCxnSpPr>
            <p:nvPr/>
          </p:nvCxnSpPr>
          <p:spPr>
            <a:xfrm rot="5400000">
              <a:off x="4506065" y="934948"/>
              <a:ext cx="301635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1AD00CE8-4EA5-019C-CB34-6A7D6641D900}"/>
                </a:ext>
              </a:extLst>
            </p:cNvPr>
            <p:cNvGrpSpPr/>
            <p:nvPr/>
          </p:nvGrpSpPr>
          <p:grpSpPr>
            <a:xfrm>
              <a:off x="2692007" y="2178095"/>
              <a:ext cx="1831503" cy="1694586"/>
              <a:chOff x="10150035" y="2164496"/>
              <a:chExt cx="1831503" cy="1694586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4605D854-C914-E511-D131-90792588F261}"/>
                  </a:ext>
                </a:extLst>
              </p:cNvPr>
              <p:cNvGrpSpPr/>
              <p:nvPr/>
            </p:nvGrpSpPr>
            <p:grpSpPr>
              <a:xfrm>
                <a:off x="10150035" y="2208077"/>
                <a:ext cx="1831503" cy="1651005"/>
                <a:chOff x="1854926" y="1663337"/>
                <a:chExt cx="4045130" cy="2105178"/>
              </a:xfrm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4CC6138A-9DE7-4152-F0EC-3D1B41EA8A80}"/>
                    </a:ext>
                  </a:extLst>
                </p:cNvPr>
                <p:cNvSpPr/>
                <p:nvPr/>
              </p:nvSpPr>
              <p:spPr>
                <a:xfrm>
                  <a:off x="1854926" y="1663337"/>
                  <a:ext cx="4045130" cy="2105178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prstDash val="dash"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ounded Rectangle 3">
                  <a:extLst>
                    <a:ext uri="{FF2B5EF4-FFF2-40B4-BE49-F238E27FC236}">
                      <a16:creationId xmlns:a16="http://schemas.microsoft.com/office/drawing/2014/main" id="{452FA9C5-33A6-C4EE-4FF9-E3373C4FC520}"/>
                    </a:ext>
                  </a:extLst>
                </p:cNvPr>
                <p:cNvSpPr/>
                <p:nvPr/>
              </p:nvSpPr>
              <p:spPr>
                <a:xfrm>
                  <a:off x="2240853" y="2355047"/>
                  <a:ext cx="3408115" cy="221035"/>
                </a:xfrm>
                <a:prstGeom prst="roundRect">
                  <a:avLst/>
                </a:prstGeom>
                <a:solidFill>
                  <a:srgbClr val="F2F2F2"/>
                </a:solidFill>
                <a:ln w="19050">
                  <a:solidFill>
                    <a:srgbClr val="59595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6200" tIns="50800" rIns="76200" bIns="50800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000000"/>
                      </a:solidFill>
                    </a:rPr>
                    <a:t>Condition available ? </a:t>
                  </a:r>
                  <a:endParaRPr sz="1200" b="1" dirty="0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126" name="Connector: Elbow 125">
                  <a:extLst>
                    <a:ext uri="{FF2B5EF4-FFF2-40B4-BE49-F238E27FC236}">
                      <a16:creationId xmlns:a16="http://schemas.microsoft.com/office/drawing/2014/main" id="{EB51442E-43DE-7112-6E24-4F3E03662580}"/>
                    </a:ext>
                  </a:extLst>
                </p:cNvPr>
                <p:cNvCxnSpPr>
                  <a:cxnSpLocks/>
                  <a:stCxn id="106" idx="2"/>
                  <a:endCxn id="130" idx="0"/>
                </p:cNvCxnSpPr>
                <p:nvPr/>
              </p:nvCxnSpPr>
              <p:spPr>
                <a:xfrm rot="5400000">
                  <a:off x="3708831" y="2780760"/>
                  <a:ext cx="440757" cy="31405"/>
                </a:xfrm>
                <a:prstGeom prst="bentConnector3">
                  <a:avLst>
                    <a:gd name="adj1" fmla="val 50000"/>
                  </a:avLst>
                </a:prstGeom>
                <a:ln>
                  <a:solidFill>
                    <a:srgbClr val="595959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0" name="Rounded Rectangle 3">
                  <a:extLst>
                    <a:ext uri="{FF2B5EF4-FFF2-40B4-BE49-F238E27FC236}">
                      <a16:creationId xmlns:a16="http://schemas.microsoft.com/office/drawing/2014/main" id="{CD55E918-2E13-9692-3EAA-EE74F86D7416}"/>
                    </a:ext>
                  </a:extLst>
                </p:cNvPr>
                <p:cNvSpPr/>
                <p:nvPr/>
              </p:nvSpPr>
              <p:spPr>
                <a:xfrm>
                  <a:off x="2209448" y="3016840"/>
                  <a:ext cx="3408116" cy="221035"/>
                </a:xfrm>
                <a:prstGeom prst="roundRect">
                  <a:avLst/>
                </a:prstGeom>
                <a:solidFill>
                  <a:srgbClr val="F2F2F2"/>
                </a:solidFill>
                <a:ln w="19050">
                  <a:solidFill>
                    <a:srgbClr val="59595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76200" tIns="50800" rIns="76200" bIns="50800" rtlCol="0" anchor="ctr"/>
                <a:lstStyle/>
                <a:p>
                  <a:pPr algn="ctr"/>
                  <a:r>
                    <a:rPr lang="en-US" sz="1200" b="1" dirty="0">
                      <a:solidFill>
                        <a:srgbClr val="000000"/>
                      </a:solidFill>
                    </a:rPr>
                    <a:t>Wait</a:t>
                  </a:r>
                  <a:endParaRPr sz="1200" b="1" dirty="0">
                    <a:solidFill>
                      <a:srgbClr val="000000"/>
                    </a:solidFill>
                  </a:endParaRPr>
                </a:p>
              </p:txBody>
            </p:sp>
            <p:cxnSp>
              <p:nvCxnSpPr>
                <p:cNvPr id="134" name="Connector: Elbow 133">
                  <a:extLst>
                    <a:ext uri="{FF2B5EF4-FFF2-40B4-BE49-F238E27FC236}">
                      <a16:creationId xmlns:a16="http://schemas.microsoft.com/office/drawing/2014/main" id="{67866657-6758-CD13-D77B-A3D49462FC39}"/>
                    </a:ext>
                  </a:extLst>
                </p:cNvPr>
                <p:cNvCxnSpPr>
                  <a:cxnSpLocks/>
                  <a:stCxn id="130" idx="2"/>
                  <a:endCxn id="106" idx="0"/>
                </p:cNvCxnSpPr>
                <p:nvPr/>
              </p:nvCxnSpPr>
              <p:spPr>
                <a:xfrm rot="5400000" flipH="1" flipV="1">
                  <a:off x="3487793" y="2780758"/>
                  <a:ext cx="882828" cy="31405"/>
                </a:xfrm>
                <a:prstGeom prst="bentConnector5">
                  <a:avLst>
                    <a:gd name="adj1" fmla="val -33017"/>
                    <a:gd name="adj2" fmla="val 5985470"/>
                    <a:gd name="adj3" fmla="val 133017"/>
                  </a:avLst>
                </a:prstGeom>
                <a:ln>
                  <a:solidFill>
                    <a:srgbClr val="595959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5EFBE1F-6818-05EA-3164-45E84E16106E}"/>
                  </a:ext>
                </a:extLst>
              </p:cNvPr>
              <p:cNvSpPr txBox="1"/>
              <p:nvPr/>
            </p:nvSpPr>
            <p:spPr>
              <a:xfrm>
                <a:off x="10310551" y="2164496"/>
                <a:ext cx="163086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Availability</a:t>
                </a:r>
              </a:p>
            </p:txBody>
          </p: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DCFCE2D2-25E7-985F-6C35-0982096E1FC4}"/>
                  </a:ext>
                </a:extLst>
              </p:cNvPr>
              <p:cNvGrpSpPr/>
              <p:nvPr/>
            </p:nvGrpSpPr>
            <p:grpSpPr>
              <a:xfrm>
                <a:off x="10150035" y="2923906"/>
                <a:ext cx="556065" cy="109674"/>
                <a:chOff x="10150035" y="2923906"/>
                <a:chExt cx="556065" cy="109674"/>
              </a:xfrm>
            </p:grpSpPr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CC6D0428-F9BF-68DC-A009-779D9F33A7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693400" y="2923906"/>
                  <a:ext cx="0" cy="109674"/>
                </a:xfrm>
                <a:prstGeom prst="line">
                  <a:avLst/>
                </a:prstGeom>
                <a:ln>
                  <a:solidFill>
                    <a:srgbClr val="595959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>
                  <a:extLst>
                    <a:ext uri="{FF2B5EF4-FFF2-40B4-BE49-F238E27FC236}">
                      <a16:creationId xmlns:a16="http://schemas.microsoft.com/office/drawing/2014/main" id="{389DE487-788C-C289-1D21-F4C3393EEB73}"/>
                    </a:ext>
                  </a:extLst>
                </p:cNvPr>
                <p:cNvCxnSpPr>
                  <a:cxnSpLocks/>
                  <a:endCxn id="137" idx="1"/>
                </p:cNvCxnSpPr>
                <p:nvPr/>
              </p:nvCxnSpPr>
              <p:spPr>
                <a:xfrm flipH="1">
                  <a:off x="10150035" y="3033579"/>
                  <a:ext cx="556065" cy="1"/>
                </a:xfrm>
                <a:prstGeom prst="straightConnector1">
                  <a:avLst/>
                </a:prstGeom>
                <a:ln>
                  <a:solidFill>
                    <a:srgbClr val="595959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D192D5C5-28E7-BD30-13F0-AC5BD4222092}"/>
                  </a:ext>
                </a:extLst>
              </p:cNvPr>
              <p:cNvSpPr txBox="1"/>
              <p:nvPr/>
            </p:nvSpPr>
            <p:spPr>
              <a:xfrm>
                <a:off x="10265410" y="2984172"/>
                <a:ext cx="4194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YES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7456067-C240-5550-3819-B2357513E95A}"/>
                  </a:ext>
                </a:extLst>
              </p:cNvPr>
              <p:cNvSpPr txBox="1"/>
              <p:nvPr/>
            </p:nvSpPr>
            <p:spPr>
              <a:xfrm>
                <a:off x="11050666" y="3000980"/>
                <a:ext cx="4194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NO</a:t>
                </a:r>
              </a:p>
            </p:txBody>
          </p:sp>
        </p:grpSp>
        <p:sp>
          <p:nvSpPr>
            <p:cNvPr id="179" name="Rounded Rectangle 3">
              <a:extLst>
                <a:ext uri="{FF2B5EF4-FFF2-40B4-BE49-F238E27FC236}">
                  <a16:creationId xmlns:a16="http://schemas.microsoft.com/office/drawing/2014/main" id="{64C423DB-2F35-EC45-C647-7671AA5C1A54}"/>
                </a:ext>
              </a:extLst>
            </p:cNvPr>
            <p:cNvSpPr/>
            <p:nvPr/>
          </p:nvSpPr>
          <p:spPr>
            <a:xfrm>
              <a:off x="9944386" y="2547998"/>
              <a:ext cx="1910157" cy="194244"/>
            </a:xfrm>
            <a:prstGeom prst="roundRect">
              <a:avLst/>
            </a:prstGeom>
            <a:solidFill>
              <a:srgbClr val="F2F2F2"/>
            </a:solidFill>
            <a:ln w="1905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Vessel/Weather Availability</a:t>
              </a:r>
              <a:endParaRPr sz="1200" dirty="0">
                <a:solidFill>
                  <a:srgbClr val="000000"/>
                </a:solidFill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E03DADDA-742D-2DC9-0E6A-DA5527091FF6}"/>
                </a:ext>
              </a:extLst>
            </p:cNvPr>
            <p:cNvSpPr txBox="1"/>
            <p:nvPr/>
          </p:nvSpPr>
          <p:spPr>
            <a:xfrm>
              <a:off x="6627229" y="418712"/>
              <a:ext cx="4194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NO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A08DC7CF-9824-D7AB-2ACD-44C0920C640B}"/>
                </a:ext>
              </a:extLst>
            </p:cNvPr>
            <p:cNvSpPr txBox="1"/>
            <p:nvPr/>
          </p:nvSpPr>
          <p:spPr>
            <a:xfrm>
              <a:off x="6663532" y="980057"/>
              <a:ext cx="4194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YES</a:t>
              </a:r>
            </a:p>
          </p:txBody>
        </p:sp>
        <p:cxnSp>
          <p:nvCxnSpPr>
            <p:cNvPr id="202" name="Connector: Elbow 201">
              <a:extLst>
                <a:ext uri="{FF2B5EF4-FFF2-40B4-BE49-F238E27FC236}">
                  <a16:creationId xmlns:a16="http://schemas.microsoft.com/office/drawing/2014/main" id="{0221129C-BC62-8F25-538C-74AE099FDCAE}"/>
                </a:ext>
              </a:extLst>
            </p:cNvPr>
            <p:cNvCxnSpPr>
              <a:cxnSpLocks/>
              <a:stCxn id="36" idx="3"/>
              <a:endCxn id="68" idx="1"/>
            </p:cNvCxnSpPr>
            <p:nvPr/>
          </p:nvCxnSpPr>
          <p:spPr>
            <a:xfrm flipV="1">
              <a:off x="6360940" y="666385"/>
              <a:ext cx="666968" cy="52989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ctor: Elbow 206">
              <a:extLst>
                <a:ext uri="{FF2B5EF4-FFF2-40B4-BE49-F238E27FC236}">
                  <a16:creationId xmlns:a16="http://schemas.microsoft.com/office/drawing/2014/main" id="{50E165AA-53CE-65E2-2699-CFB48312D5D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206271" y="2332144"/>
              <a:ext cx="864023" cy="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ctor: Elbow 242">
              <a:extLst>
                <a:ext uri="{FF2B5EF4-FFF2-40B4-BE49-F238E27FC236}">
                  <a16:creationId xmlns:a16="http://schemas.microsoft.com/office/drawing/2014/main" id="{4C665A01-363A-BF40-4838-A7E05365E62F}"/>
                </a:ext>
              </a:extLst>
            </p:cNvPr>
            <p:cNvCxnSpPr>
              <a:cxnSpLocks/>
              <a:stCxn id="179" idx="2"/>
              <a:endCxn id="10" idx="3"/>
            </p:cNvCxnSpPr>
            <p:nvPr/>
          </p:nvCxnSpPr>
          <p:spPr>
            <a:xfrm rot="5400000" flipH="1">
              <a:off x="10226202" y="2068980"/>
              <a:ext cx="25683" cy="1320842"/>
            </a:xfrm>
            <a:prstGeom prst="bentConnector4">
              <a:avLst>
                <a:gd name="adj1" fmla="val -508620"/>
                <a:gd name="adj2" fmla="val 86154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ctor: Elbow 245">
              <a:extLst>
                <a:ext uri="{FF2B5EF4-FFF2-40B4-BE49-F238E27FC236}">
                  <a16:creationId xmlns:a16="http://schemas.microsoft.com/office/drawing/2014/main" id="{A8CACC5D-78E5-FC5D-6468-9A30E10B231E}"/>
                </a:ext>
              </a:extLst>
            </p:cNvPr>
            <p:cNvCxnSpPr>
              <a:cxnSpLocks/>
              <a:stCxn id="8" idx="3"/>
              <a:endCxn id="179" idx="0"/>
            </p:cNvCxnSpPr>
            <p:nvPr/>
          </p:nvCxnSpPr>
          <p:spPr>
            <a:xfrm>
              <a:off x="9578623" y="2213639"/>
              <a:ext cx="1320842" cy="334359"/>
            </a:xfrm>
            <a:prstGeom prst="bentConnector2">
              <a:avLst/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Rounded Rectangle 3">
              <a:extLst>
                <a:ext uri="{FF2B5EF4-FFF2-40B4-BE49-F238E27FC236}">
                  <a16:creationId xmlns:a16="http://schemas.microsoft.com/office/drawing/2014/main" id="{D5343645-F46D-133E-1FC6-6CE9B630FD98}"/>
                </a:ext>
              </a:extLst>
            </p:cNvPr>
            <p:cNvSpPr/>
            <p:nvPr/>
          </p:nvSpPr>
          <p:spPr>
            <a:xfrm>
              <a:off x="9944383" y="3143484"/>
              <a:ext cx="1910160" cy="196976"/>
            </a:xfrm>
            <a:prstGeom prst="roundRect">
              <a:avLst/>
            </a:prstGeom>
            <a:solidFill>
              <a:srgbClr val="F2F2F2"/>
            </a:solidFill>
            <a:ln w="1905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Vessel/Weather Availability</a:t>
              </a:r>
            </a:p>
          </p:txBody>
        </p:sp>
        <p:cxnSp>
          <p:nvCxnSpPr>
            <p:cNvPr id="266" name="Connector: Elbow 265">
              <a:extLst>
                <a:ext uri="{FF2B5EF4-FFF2-40B4-BE49-F238E27FC236}">
                  <a16:creationId xmlns:a16="http://schemas.microsoft.com/office/drawing/2014/main" id="{006E4654-9C74-BBE3-5466-74BB282F276A}"/>
                </a:ext>
              </a:extLst>
            </p:cNvPr>
            <p:cNvCxnSpPr>
              <a:cxnSpLocks/>
              <a:stCxn id="265" idx="2"/>
              <a:endCxn id="12" idx="3"/>
            </p:cNvCxnSpPr>
            <p:nvPr/>
          </p:nvCxnSpPr>
          <p:spPr>
            <a:xfrm rot="5400000" flipH="1">
              <a:off x="10191704" y="2632701"/>
              <a:ext cx="94678" cy="1320840"/>
            </a:xfrm>
            <a:prstGeom prst="bentConnector4">
              <a:avLst>
                <a:gd name="adj1" fmla="val -241450"/>
                <a:gd name="adj2" fmla="val 86154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: Elbow 266">
              <a:extLst>
                <a:ext uri="{FF2B5EF4-FFF2-40B4-BE49-F238E27FC236}">
                  <a16:creationId xmlns:a16="http://schemas.microsoft.com/office/drawing/2014/main" id="{AFC4D5C9-1894-06D0-0B70-C7AD642F82AD}"/>
                </a:ext>
              </a:extLst>
            </p:cNvPr>
            <p:cNvCxnSpPr>
              <a:cxnSpLocks/>
              <a:stCxn id="10" idx="2"/>
              <a:endCxn id="265" idx="0"/>
            </p:cNvCxnSpPr>
            <p:nvPr/>
          </p:nvCxnSpPr>
          <p:spPr>
            <a:xfrm rot="16200000" flipH="1">
              <a:off x="9228811" y="1472831"/>
              <a:ext cx="316407" cy="3024898"/>
            </a:xfrm>
            <a:prstGeom prst="bentConnector3">
              <a:avLst>
                <a:gd name="adj1" fmla="val 60321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ctor: Elbow 280">
              <a:extLst>
                <a:ext uri="{FF2B5EF4-FFF2-40B4-BE49-F238E27FC236}">
                  <a16:creationId xmlns:a16="http://schemas.microsoft.com/office/drawing/2014/main" id="{4806CD13-8A58-8198-B08D-43F3E1C9FC28}"/>
                </a:ext>
              </a:extLst>
            </p:cNvPr>
            <p:cNvCxnSpPr>
              <a:cxnSpLocks/>
              <a:stCxn id="12" idx="2"/>
              <a:endCxn id="14" idx="0"/>
            </p:cNvCxnSpPr>
            <p:nvPr/>
          </p:nvCxnSpPr>
          <p:spPr>
            <a:xfrm rot="5400000">
              <a:off x="7730067" y="3500798"/>
              <a:ext cx="288996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Connector: Elbow 290">
              <a:extLst>
                <a:ext uri="{FF2B5EF4-FFF2-40B4-BE49-F238E27FC236}">
                  <a16:creationId xmlns:a16="http://schemas.microsoft.com/office/drawing/2014/main" id="{DED0351D-6490-90E4-4754-4AD9DBCEE81E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>
            <a:xfrm rot="5400000">
              <a:off x="7733623" y="4007274"/>
              <a:ext cx="281885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ounded Rectangle 3">
              <a:extLst>
                <a:ext uri="{FF2B5EF4-FFF2-40B4-BE49-F238E27FC236}">
                  <a16:creationId xmlns:a16="http://schemas.microsoft.com/office/drawing/2014/main" id="{942F8CFF-3F59-299A-AB2F-480CC20D4D17}"/>
                </a:ext>
              </a:extLst>
            </p:cNvPr>
            <p:cNvSpPr/>
            <p:nvPr/>
          </p:nvSpPr>
          <p:spPr>
            <a:xfrm>
              <a:off x="9944385" y="4651138"/>
              <a:ext cx="1910158" cy="194244"/>
            </a:xfrm>
            <a:prstGeom prst="roundRect">
              <a:avLst/>
            </a:prstGeom>
            <a:solidFill>
              <a:srgbClr val="F2F2F2"/>
            </a:solidFill>
            <a:ln w="1905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Vessel/Weather Availability</a:t>
              </a:r>
            </a:p>
          </p:txBody>
        </p:sp>
        <p:cxnSp>
          <p:nvCxnSpPr>
            <p:cNvPr id="298" name="Connector: Elbow 297">
              <a:extLst>
                <a:ext uri="{FF2B5EF4-FFF2-40B4-BE49-F238E27FC236}">
                  <a16:creationId xmlns:a16="http://schemas.microsoft.com/office/drawing/2014/main" id="{162FB0AF-2370-39B4-6A32-B562BBF71CED}"/>
                </a:ext>
              </a:extLst>
            </p:cNvPr>
            <p:cNvCxnSpPr>
              <a:cxnSpLocks/>
              <a:stCxn id="297" idx="2"/>
              <a:endCxn id="18" idx="3"/>
            </p:cNvCxnSpPr>
            <p:nvPr/>
          </p:nvCxnSpPr>
          <p:spPr>
            <a:xfrm rot="5400000" flipH="1">
              <a:off x="10197180" y="4143099"/>
              <a:ext cx="83727" cy="1320841"/>
            </a:xfrm>
            <a:prstGeom prst="bentConnector4">
              <a:avLst>
                <a:gd name="adj1" fmla="val -273030"/>
                <a:gd name="adj2" fmla="val 86154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onnector: Elbow 298">
              <a:extLst>
                <a:ext uri="{FF2B5EF4-FFF2-40B4-BE49-F238E27FC236}">
                  <a16:creationId xmlns:a16="http://schemas.microsoft.com/office/drawing/2014/main" id="{6FBDEA0F-90A2-D1DA-16E0-567A715102FD}"/>
                </a:ext>
              </a:extLst>
            </p:cNvPr>
            <p:cNvCxnSpPr>
              <a:cxnSpLocks/>
              <a:stCxn id="16" idx="2"/>
              <a:endCxn id="297" idx="0"/>
            </p:cNvCxnSpPr>
            <p:nvPr/>
          </p:nvCxnSpPr>
          <p:spPr>
            <a:xfrm rot="16200000" flipH="1">
              <a:off x="9246072" y="2997745"/>
              <a:ext cx="281885" cy="302489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2" name="Rounded Rectangle 3">
              <a:extLst>
                <a:ext uri="{FF2B5EF4-FFF2-40B4-BE49-F238E27FC236}">
                  <a16:creationId xmlns:a16="http://schemas.microsoft.com/office/drawing/2014/main" id="{B775C158-6FD0-80DF-20F0-A9213A5AFF66}"/>
                </a:ext>
              </a:extLst>
            </p:cNvPr>
            <p:cNvSpPr/>
            <p:nvPr/>
          </p:nvSpPr>
          <p:spPr>
            <a:xfrm>
              <a:off x="9944384" y="5608662"/>
              <a:ext cx="1910159" cy="218698"/>
            </a:xfrm>
            <a:prstGeom prst="roundRect">
              <a:avLst/>
            </a:prstGeom>
            <a:solidFill>
              <a:srgbClr val="F2F2F2"/>
            </a:solidFill>
            <a:ln w="19050">
              <a:solidFill>
                <a:srgbClr val="59595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Vessel/Weather Availability</a:t>
              </a:r>
            </a:p>
          </p:txBody>
        </p:sp>
        <p:cxnSp>
          <p:nvCxnSpPr>
            <p:cNvPr id="313" name="Connector: Elbow 312">
              <a:extLst>
                <a:ext uri="{FF2B5EF4-FFF2-40B4-BE49-F238E27FC236}">
                  <a16:creationId xmlns:a16="http://schemas.microsoft.com/office/drawing/2014/main" id="{09CA516C-08E9-E8C3-F6E8-D6EA47E5BA10}"/>
                </a:ext>
              </a:extLst>
            </p:cNvPr>
            <p:cNvCxnSpPr>
              <a:cxnSpLocks/>
              <a:stCxn id="312" idx="2"/>
              <a:endCxn id="25" idx="3"/>
            </p:cNvCxnSpPr>
            <p:nvPr/>
          </p:nvCxnSpPr>
          <p:spPr>
            <a:xfrm rot="5400000" flipH="1">
              <a:off x="10172112" y="5100009"/>
              <a:ext cx="133863" cy="1320841"/>
            </a:xfrm>
            <a:prstGeom prst="bentConnector4">
              <a:avLst>
                <a:gd name="adj1" fmla="val -170772"/>
                <a:gd name="adj2" fmla="val 86154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nnector: Elbow 313">
              <a:extLst>
                <a:ext uri="{FF2B5EF4-FFF2-40B4-BE49-F238E27FC236}">
                  <a16:creationId xmlns:a16="http://schemas.microsoft.com/office/drawing/2014/main" id="{D5FB57DA-808C-702C-BC53-90C335009B37}"/>
                </a:ext>
              </a:extLst>
            </p:cNvPr>
            <p:cNvCxnSpPr>
              <a:cxnSpLocks/>
              <a:stCxn id="20" idx="2"/>
              <a:endCxn id="312" idx="0"/>
            </p:cNvCxnSpPr>
            <p:nvPr/>
          </p:nvCxnSpPr>
          <p:spPr>
            <a:xfrm rot="16200000" flipH="1">
              <a:off x="9273405" y="3982602"/>
              <a:ext cx="227219" cy="302489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nector: Elbow 316">
              <a:extLst>
                <a:ext uri="{FF2B5EF4-FFF2-40B4-BE49-F238E27FC236}">
                  <a16:creationId xmlns:a16="http://schemas.microsoft.com/office/drawing/2014/main" id="{24D80BF0-C0E5-300B-1DB3-60471097B110}"/>
                </a:ext>
              </a:extLst>
            </p:cNvPr>
            <p:cNvCxnSpPr>
              <a:cxnSpLocks/>
              <a:stCxn id="18" idx="2"/>
              <a:endCxn id="20" idx="0"/>
            </p:cNvCxnSpPr>
            <p:nvPr/>
          </p:nvCxnSpPr>
          <p:spPr>
            <a:xfrm rot="5400000">
              <a:off x="7730448" y="5016290"/>
              <a:ext cx="288234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nector: Elbow 319">
              <a:extLst>
                <a:ext uri="{FF2B5EF4-FFF2-40B4-BE49-F238E27FC236}">
                  <a16:creationId xmlns:a16="http://schemas.microsoft.com/office/drawing/2014/main" id="{6A5BFE31-F563-EFD7-540F-6275474164CC}"/>
                </a:ext>
              </a:extLst>
            </p:cNvPr>
            <p:cNvCxnSpPr>
              <a:cxnSpLocks/>
              <a:stCxn id="25" idx="2"/>
              <a:endCxn id="27" idx="0"/>
            </p:cNvCxnSpPr>
            <p:nvPr/>
          </p:nvCxnSpPr>
          <p:spPr>
            <a:xfrm rot="5400000">
              <a:off x="7748470" y="5930110"/>
              <a:ext cx="252191" cy="12700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Connector: Elbow 348">
              <a:extLst>
                <a:ext uri="{FF2B5EF4-FFF2-40B4-BE49-F238E27FC236}">
                  <a16:creationId xmlns:a16="http://schemas.microsoft.com/office/drawing/2014/main" id="{9F1C7704-3711-167C-46B8-DA3F3886AE3C}"/>
                </a:ext>
              </a:extLst>
            </p:cNvPr>
            <p:cNvCxnSpPr>
              <a:cxnSpLocks/>
              <a:stCxn id="25" idx="1"/>
              <a:endCxn id="36" idx="2"/>
            </p:cNvCxnSpPr>
            <p:nvPr/>
          </p:nvCxnSpPr>
          <p:spPr>
            <a:xfrm rot="10800000">
              <a:off x="4656883" y="1306803"/>
              <a:ext cx="1513625" cy="4386695"/>
            </a:xfrm>
            <a:prstGeom prst="bentConnector2">
              <a:avLst/>
            </a:prstGeom>
            <a:ln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2" name="Rounded Rectangle 13">
              <a:extLst>
                <a:ext uri="{FF2B5EF4-FFF2-40B4-BE49-F238E27FC236}">
                  <a16:creationId xmlns:a16="http://schemas.microsoft.com/office/drawing/2014/main" id="{FB1ACBD1-3BDC-B27A-C5FF-0D1C01579DBD}"/>
                </a:ext>
              </a:extLst>
            </p:cNvPr>
            <p:cNvSpPr/>
            <p:nvPr/>
          </p:nvSpPr>
          <p:spPr>
            <a:xfrm>
              <a:off x="3209641" y="6255623"/>
              <a:ext cx="705001" cy="270172"/>
            </a:xfrm>
            <a:prstGeom prst="roundRect">
              <a:avLst/>
            </a:prstGeom>
            <a:solidFill>
              <a:srgbClr val="E2EFDA"/>
            </a:solidFill>
            <a:ln w="19050">
              <a:solidFill>
                <a:srgbClr val="70AD4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Transit</a:t>
              </a:r>
              <a:endParaRPr sz="1200" dirty="0">
                <a:solidFill>
                  <a:srgbClr val="000000"/>
                </a:solidFill>
              </a:endParaRPr>
            </a:p>
          </p:txBody>
        </p:sp>
        <p:sp>
          <p:nvSpPr>
            <p:cNvPr id="353" name="Rounded Rectangle 19">
              <a:extLst>
                <a:ext uri="{FF2B5EF4-FFF2-40B4-BE49-F238E27FC236}">
                  <a16:creationId xmlns:a16="http://schemas.microsoft.com/office/drawing/2014/main" id="{37E6505E-E2AD-3DBB-4954-38109ECA8965}"/>
                </a:ext>
              </a:extLst>
            </p:cNvPr>
            <p:cNvSpPr/>
            <p:nvPr/>
          </p:nvSpPr>
          <p:spPr>
            <a:xfrm>
              <a:off x="3214291" y="5906406"/>
              <a:ext cx="709286" cy="270172"/>
            </a:xfrm>
            <a:prstGeom prst="roundRect">
              <a:avLst/>
            </a:prstGeom>
            <a:solidFill>
              <a:srgbClr val="DDEBF7"/>
            </a:solidFill>
            <a:ln w="19050">
              <a:solidFill>
                <a:srgbClr val="4472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Site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  <p:sp>
          <p:nvSpPr>
            <p:cNvPr id="354" name="Rounded Rectangle 15">
              <a:extLst>
                <a:ext uri="{FF2B5EF4-FFF2-40B4-BE49-F238E27FC236}">
                  <a16:creationId xmlns:a16="http://schemas.microsoft.com/office/drawing/2014/main" id="{C60B6534-81B9-4316-0E0C-43E81702736A}"/>
                </a:ext>
              </a:extLst>
            </p:cNvPr>
            <p:cNvSpPr/>
            <p:nvPr/>
          </p:nvSpPr>
          <p:spPr>
            <a:xfrm>
              <a:off x="3214291" y="5582235"/>
              <a:ext cx="709286" cy="245125"/>
            </a:xfrm>
            <a:prstGeom prst="roundRect">
              <a:avLst/>
            </a:prstGeom>
            <a:solidFill>
              <a:srgbClr val="FCE4D6"/>
            </a:solidFill>
            <a:ln w="1905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6200" tIns="50800" rIns="76200" bIns="50800" rtlCol="0" anchor="ctr"/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</a:rPr>
                <a:t>Port</a:t>
              </a:r>
              <a:endParaRPr sz="1200" b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A417855C-72B8-159E-A618-11C2E9D685BD}"/>
              </a:ext>
            </a:extLst>
          </p:cNvPr>
          <p:cNvSpPr/>
          <p:nvPr/>
        </p:nvSpPr>
        <p:spPr>
          <a:xfrm>
            <a:off x="240365" y="241647"/>
            <a:ext cx="1225578" cy="643723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Merge Deferred TTP operations</a:t>
            </a:r>
          </a:p>
        </p:txBody>
      </p:sp>
    </p:spTree>
    <p:extLst>
      <p:ext uri="{BB962C8B-B14F-4D97-AF65-F5344CB8AC3E}">
        <p14:creationId xmlns:p14="http://schemas.microsoft.com/office/powerpoint/2010/main" val="86668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9307352" y="2054417"/>
            <a:ext cx="2462605" cy="270172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Operation monthly Statistic duration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8855" y="1588335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Mobilise  Vessels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68855" y="2091255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Stipulate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68855" y="2594175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arrive at 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68855" y="3123398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Conduct operation (WoW considered)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36" name="Rounded Rectangle 3">
            <a:extLst>
              <a:ext uri="{FF2B5EF4-FFF2-40B4-BE49-F238E27FC236}">
                <a16:creationId xmlns:a16="http://schemas.microsoft.com/office/drawing/2014/main" id="{1959F68B-4132-5BD8-58DB-AA68E62852BA}"/>
              </a:ext>
            </a:extLst>
          </p:cNvPr>
          <p:cNvSpPr/>
          <p:nvPr/>
        </p:nvSpPr>
        <p:spPr>
          <a:xfrm>
            <a:off x="5575207" y="1008780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b="1" dirty="0">
                <a:solidFill>
                  <a:srgbClr val="000000"/>
                </a:solidFill>
              </a:rPr>
              <a:t>Operation to conduct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35367FFA-BD50-B098-4F67-05BA97928C73}"/>
              </a:ext>
            </a:extLst>
          </p:cNvPr>
          <p:cNvCxnSpPr>
            <a:cxnSpLocks/>
            <a:stCxn id="36" idx="2"/>
            <a:endCxn id="6" idx="0"/>
          </p:cNvCxnSpPr>
          <p:nvPr/>
        </p:nvCxnSpPr>
        <p:spPr>
          <a:xfrm rot="5400000">
            <a:off x="7096830" y="1405899"/>
            <a:ext cx="358519" cy="635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EE9BE0E0-3907-93A0-3C47-BDA70E5E4CD1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7118820" y="2969304"/>
            <a:ext cx="308187" cy="12700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: Elbow 358">
            <a:extLst>
              <a:ext uri="{FF2B5EF4-FFF2-40B4-BE49-F238E27FC236}">
                <a16:creationId xmlns:a16="http://schemas.microsoft.com/office/drawing/2014/main" id="{8940F6EA-1F96-7367-CB29-EEDB754C1F28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>
          <a:xfrm rot="10800000" flipV="1">
            <a:off x="8976972" y="2189503"/>
            <a:ext cx="330381" cy="12270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Rounded Rectangle 3">
            <a:extLst>
              <a:ext uri="{FF2B5EF4-FFF2-40B4-BE49-F238E27FC236}">
                <a16:creationId xmlns:a16="http://schemas.microsoft.com/office/drawing/2014/main" id="{14936E64-4627-9969-AD3D-A92123D2FF79}"/>
              </a:ext>
            </a:extLst>
          </p:cNvPr>
          <p:cNvSpPr/>
          <p:nvPr/>
        </p:nvSpPr>
        <p:spPr>
          <a:xfrm>
            <a:off x="6272264" y="3511028"/>
            <a:ext cx="2013999" cy="393269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Operation concluded inside contract terms ?</a:t>
            </a:r>
          </a:p>
        </p:txBody>
      </p:sp>
      <p:cxnSp>
        <p:nvCxnSpPr>
          <p:cNvPr id="366" name="Connector: Elbow 365">
            <a:extLst>
              <a:ext uri="{FF2B5EF4-FFF2-40B4-BE49-F238E27FC236}">
                <a16:creationId xmlns:a16="http://schemas.microsoft.com/office/drawing/2014/main" id="{5564C5B6-2D3F-77C5-8034-C2961F0108AF}"/>
              </a:ext>
            </a:extLst>
          </p:cNvPr>
          <p:cNvCxnSpPr>
            <a:cxnSpLocks/>
            <a:stCxn id="12" idx="2"/>
            <a:endCxn id="364" idx="0"/>
          </p:cNvCxnSpPr>
          <p:nvPr/>
        </p:nvCxnSpPr>
        <p:spPr>
          <a:xfrm rot="16200000" flipH="1">
            <a:off x="7192791" y="3424555"/>
            <a:ext cx="166594" cy="635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: Elbow 371">
            <a:extLst>
              <a:ext uri="{FF2B5EF4-FFF2-40B4-BE49-F238E27FC236}">
                <a16:creationId xmlns:a16="http://schemas.microsoft.com/office/drawing/2014/main" id="{B575FC52-70F8-B012-1223-96D1D3FCE4E6}"/>
              </a:ext>
            </a:extLst>
          </p:cNvPr>
          <p:cNvCxnSpPr>
            <a:cxnSpLocks/>
            <a:stCxn id="364" idx="2"/>
            <a:endCxn id="400" idx="0"/>
          </p:cNvCxnSpPr>
          <p:nvPr/>
        </p:nvCxnSpPr>
        <p:spPr>
          <a:xfrm rot="16200000" flipH="1">
            <a:off x="7248143" y="3935418"/>
            <a:ext cx="469037" cy="406794"/>
          </a:xfrm>
          <a:prstGeom prst="bentConnector3">
            <a:avLst>
              <a:gd name="adj1" fmla="val 63925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9" name="Connector: Elbow 378">
            <a:extLst>
              <a:ext uri="{FF2B5EF4-FFF2-40B4-BE49-F238E27FC236}">
                <a16:creationId xmlns:a16="http://schemas.microsoft.com/office/drawing/2014/main" id="{AF34E5ED-D098-B49B-42C1-A1D841F101A0}"/>
              </a:ext>
            </a:extLst>
          </p:cNvPr>
          <p:cNvCxnSpPr>
            <a:cxnSpLocks/>
            <a:stCxn id="364" idx="2"/>
            <a:endCxn id="6" idx="1"/>
          </p:cNvCxnSpPr>
          <p:nvPr/>
        </p:nvCxnSpPr>
        <p:spPr>
          <a:xfrm rot="5400000" flipH="1">
            <a:off x="5321338" y="1946371"/>
            <a:ext cx="2205444" cy="1710409"/>
          </a:xfrm>
          <a:prstGeom prst="bentConnector4">
            <a:avLst>
              <a:gd name="adj1" fmla="val -14067"/>
              <a:gd name="adj2" fmla="val 113365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TextBox 394">
            <a:extLst>
              <a:ext uri="{FF2B5EF4-FFF2-40B4-BE49-F238E27FC236}">
                <a16:creationId xmlns:a16="http://schemas.microsoft.com/office/drawing/2014/main" id="{CE66BCF0-80AB-867D-8177-A1D34FBF6C1A}"/>
              </a:ext>
            </a:extLst>
          </p:cNvPr>
          <p:cNvSpPr txBox="1"/>
          <p:nvPr/>
        </p:nvSpPr>
        <p:spPr>
          <a:xfrm>
            <a:off x="7266563" y="3963221"/>
            <a:ext cx="419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4546FE82-0CF2-4D30-ED28-40E83FC76397}"/>
              </a:ext>
            </a:extLst>
          </p:cNvPr>
          <p:cNvSpPr txBox="1"/>
          <p:nvPr/>
        </p:nvSpPr>
        <p:spPr>
          <a:xfrm>
            <a:off x="6853417" y="3963221"/>
            <a:ext cx="419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00" name="Rounded Rectangle 3">
            <a:extLst>
              <a:ext uri="{FF2B5EF4-FFF2-40B4-BE49-F238E27FC236}">
                <a16:creationId xmlns:a16="http://schemas.microsoft.com/office/drawing/2014/main" id="{B76A15B2-6BE2-92D3-C32E-47BD1E2DEEAB}"/>
              </a:ext>
            </a:extLst>
          </p:cNvPr>
          <p:cNvSpPr/>
          <p:nvPr/>
        </p:nvSpPr>
        <p:spPr>
          <a:xfrm>
            <a:off x="6620304" y="4373334"/>
            <a:ext cx="2131507" cy="393269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Can conduct other operation ?</a:t>
            </a:r>
          </a:p>
        </p:txBody>
      </p:sp>
      <p:cxnSp>
        <p:nvCxnSpPr>
          <p:cNvPr id="402" name="Connector: Elbow 401">
            <a:extLst>
              <a:ext uri="{FF2B5EF4-FFF2-40B4-BE49-F238E27FC236}">
                <a16:creationId xmlns:a16="http://schemas.microsoft.com/office/drawing/2014/main" id="{0A9666BE-C29F-1908-D01E-F110386D5384}"/>
              </a:ext>
            </a:extLst>
          </p:cNvPr>
          <p:cNvCxnSpPr>
            <a:cxnSpLocks/>
            <a:stCxn id="400" idx="2"/>
            <a:endCxn id="12" idx="3"/>
          </p:cNvCxnSpPr>
          <p:nvPr/>
        </p:nvCxnSpPr>
        <p:spPr>
          <a:xfrm rot="5400000" flipH="1" flipV="1">
            <a:off x="7565170" y="3354803"/>
            <a:ext cx="1532687" cy="1290913"/>
          </a:xfrm>
          <a:prstGeom prst="bentConnector4">
            <a:avLst>
              <a:gd name="adj1" fmla="val -18111"/>
              <a:gd name="adj2" fmla="val 117708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7" name="TextBox 406">
            <a:extLst>
              <a:ext uri="{FF2B5EF4-FFF2-40B4-BE49-F238E27FC236}">
                <a16:creationId xmlns:a16="http://schemas.microsoft.com/office/drawing/2014/main" id="{70E67092-0B1B-3CD6-0B9A-819FF0791B3F}"/>
              </a:ext>
            </a:extLst>
          </p:cNvPr>
          <p:cNvSpPr txBox="1"/>
          <p:nvPr/>
        </p:nvSpPr>
        <p:spPr>
          <a:xfrm>
            <a:off x="6983725" y="4816599"/>
            <a:ext cx="419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040F8648-9664-9880-B6A4-14561FD60953}"/>
              </a:ext>
            </a:extLst>
          </p:cNvPr>
          <p:cNvSpPr txBox="1"/>
          <p:nvPr/>
        </p:nvSpPr>
        <p:spPr>
          <a:xfrm>
            <a:off x="7760596" y="4779628"/>
            <a:ext cx="4194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sp>
        <p:nvSpPr>
          <p:cNvPr id="409" name="Rounded Rectangle 3">
            <a:extLst>
              <a:ext uri="{FF2B5EF4-FFF2-40B4-BE49-F238E27FC236}">
                <a16:creationId xmlns:a16="http://schemas.microsoft.com/office/drawing/2014/main" id="{C6E49F2D-17CB-9A92-F687-6F4FF2E86C27}"/>
              </a:ext>
            </a:extLst>
          </p:cNvPr>
          <p:cNvSpPr/>
          <p:nvPr/>
        </p:nvSpPr>
        <p:spPr>
          <a:xfrm>
            <a:off x="5444899" y="5319519"/>
            <a:ext cx="1958321" cy="291949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b="1" dirty="0">
                <a:solidFill>
                  <a:srgbClr val="000000"/>
                </a:solidFill>
              </a:rPr>
              <a:t>Dismiss Vessel</a:t>
            </a:r>
            <a:endParaRPr sz="1200" b="1" dirty="0">
              <a:solidFill>
                <a:srgbClr val="000000"/>
              </a:solidFill>
            </a:endParaRPr>
          </a:p>
        </p:txBody>
      </p:sp>
      <p:cxnSp>
        <p:nvCxnSpPr>
          <p:cNvPr id="410" name="Connector: Elbow 409">
            <a:extLst>
              <a:ext uri="{FF2B5EF4-FFF2-40B4-BE49-F238E27FC236}">
                <a16:creationId xmlns:a16="http://schemas.microsoft.com/office/drawing/2014/main" id="{C220080E-062E-06C2-BA3D-A0745236D5D7}"/>
              </a:ext>
            </a:extLst>
          </p:cNvPr>
          <p:cNvCxnSpPr>
            <a:cxnSpLocks/>
            <a:stCxn id="400" idx="2"/>
            <a:endCxn id="409" idx="0"/>
          </p:cNvCxnSpPr>
          <p:nvPr/>
        </p:nvCxnSpPr>
        <p:spPr>
          <a:xfrm rot="5400000">
            <a:off x="6778601" y="4412062"/>
            <a:ext cx="552916" cy="1261998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: Elbow 454">
            <a:extLst>
              <a:ext uri="{FF2B5EF4-FFF2-40B4-BE49-F238E27FC236}">
                <a16:creationId xmlns:a16="http://schemas.microsoft.com/office/drawing/2014/main" id="{99A99CA8-51FC-B412-CAEC-7EA074BAC380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7131971" y="2453233"/>
            <a:ext cx="281884" cy="12700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: Elbow 458">
            <a:extLst>
              <a:ext uri="{FF2B5EF4-FFF2-40B4-BE49-F238E27FC236}">
                <a16:creationId xmlns:a16="http://schemas.microsoft.com/office/drawing/2014/main" id="{646F2BC6-4769-8F50-2B61-3D3979EE3B44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7131971" y="1950313"/>
            <a:ext cx="281884" cy="12700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927E9A9F-E8DB-81BF-1F67-837A2BC8B906}"/>
              </a:ext>
            </a:extLst>
          </p:cNvPr>
          <p:cNvSpPr/>
          <p:nvPr/>
        </p:nvSpPr>
        <p:spPr>
          <a:xfrm>
            <a:off x="240365" y="241648"/>
            <a:ext cx="2410854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</a:t>
            </a:r>
            <a:r>
              <a:rPr lang="en-US" sz="1200" dirty="0" err="1">
                <a:solidFill>
                  <a:srgbClr val="000000"/>
                </a:solidFill>
              </a:rPr>
              <a:t>Mobilisation</a:t>
            </a:r>
            <a:r>
              <a:rPr lang="en-US" sz="1200" dirty="0">
                <a:solidFill>
                  <a:srgbClr val="000000"/>
                </a:solidFill>
              </a:rPr>
              <a:t> Scheduler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8C3D-A405-4554-7F9E-13902DA3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B865C58-3660-5A14-DCCD-C80D3A085A3A}"/>
              </a:ext>
            </a:extLst>
          </p:cNvPr>
          <p:cNvSpPr/>
          <p:nvPr/>
        </p:nvSpPr>
        <p:spPr>
          <a:xfrm>
            <a:off x="5177406" y="3725199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Monthly scenario distribution selection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B99CC7-04E2-2FF8-4FF2-B4D7E364102D}"/>
              </a:ext>
            </a:extLst>
          </p:cNvPr>
          <p:cNvSpPr/>
          <p:nvPr/>
        </p:nvSpPr>
        <p:spPr>
          <a:xfrm>
            <a:off x="5183760" y="4234198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Apply component lifecycle distribution influence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7C44DF-F231-E214-C2C4-04A8997927D9}"/>
              </a:ext>
            </a:extLst>
          </p:cNvPr>
          <p:cNvSpPr/>
          <p:nvPr/>
        </p:nvSpPr>
        <p:spPr>
          <a:xfrm>
            <a:off x="5177406" y="4731038"/>
            <a:ext cx="3408116" cy="41870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Randomly Failure distribution across the project lifetime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291B1CB-DA55-BBE2-2910-DC7436F28150}"/>
              </a:ext>
            </a:extLst>
          </p:cNvPr>
          <p:cNvCxnSpPr>
            <a:cxnSpLocks/>
            <a:stCxn id="15" idx="2"/>
            <a:endCxn id="21" idx="0"/>
          </p:cNvCxnSpPr>
          <p:nvPr/>
        </p:nvCxnSpPr>
        <p:spPr>
          <a:xfrm rot="5400000">
            <a:off x="5864196" y="1878874"/>
            <a:ext cx="651912" cy="1382626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: Elbow 454">
            <a:extLst>
              <a:ext uri="{FF2B5EF4-FFF2-40B4-BE49-F238E27FC236}">
                <a16:creationId xmlns:a16="http://schemas.microsoft.com/office/drawing/2014/main" id="{EE6DE8C1-4ED2-BC9E-91C1-DD056FD5B90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6740660" y="4087039"/>
            <a:ext cx="287963" cy="635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: Elbow 458">
            <a:extLst>
              <a:ext uri="{FF2B5EF4-FFF2-40B4-BE49-F238E27FC236}">
                <a16:creationId xmlns:a16="http://schemas.microsoft.com/office/drawing/2014/main" id="{22306D62-14BC-4C6C-048A-4B213424EF58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 rot="16200000" flipH="1">
            <a:off x="7174844" y="1950851"/>
            <a:ext cx="651912" cy="123867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7C95B325-7620-ECD8-93EB-9A6CADFEA4FA}"/>
              </a:ext>
            </a:extLst>
          </p:cNvPr>
          <p:cNvSpPr/>
          <p:nvPr/>
        </p:nvSpPr>
        <p:spPr>
          <a:xfrm>
            <a:off x="5183761" y="1348909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Any Failure to be generated?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EDF9726-9FB5-19F5-F8D0-5CF5A864231B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 rot="5400000">
            <a:off x="6681445" y="1769965"/>
            <a:ext cx="406395" cy="635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1F99D698-7013-5365-9102-3E3B448D938E}"/>
              </a:ext>
            </a:extLst>
          </p:cNvPr>
          <p:cNvSpPr/>
          <p:nvPr/>
        </p:nvSpPr>
        <p:spPr>
          <a:xfrm>
            <a:off x="5177407" y="1976340"/>
            <a:ext cx="3408116" cy="267891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Lifetime specific failure estimation for whole project</a:t>
            </a:r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D5969C54-FF34-E4AD-C49D-BDD7133219D4}"/>
              </a:ext>
            </a:extLst>
          </p:cNvPr>
          <p:cNvSpPr/>
          <p:nvPr/>
        </p:nvSpPr>
        <p:spPr>
          <a:xfrm>
            <a:off x="4591801" y="2896143"/>
            <a:ext cx="1814075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Poisson generation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15B332D0-2371-2ED8-0859-6A8138F2FA78}"/>
              </a:ext>
            </a:extLst>
          </p:cNvPr>
          <p:cNvSpPr/>
          <p:nvPr/>
        </p:nvSpPr>
        <p:spPr>
          <a:xfrm>
            <a:off x="7213098" y="2896143"/>
            <a:ext cx="1814075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Fr*#element*#years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7CE9F9-73E4-50BE-BB5C-49E157BA1668}"/>
              </a:ext>
            </a:extLst>
          </p:cNvPr>
          <p:cNvSpPr txBox="1"/>
          <p:nvPr/>
        </p:nvSpPr>
        <p:spPr>
          <a:xfrm>
            <a:off x="5710791" y="2335134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&lt; 1 failure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93661F-91BD-387E-7E99-AD1187A80EC9}"/>
              </a:ext>
            </a:extLst>
          </p:cNvPr>
          <p:cNvSpPr txBox="1"/>
          <p:nvPr/>
        </p:nvSpPr>
        <p:spPr>
          <a:xfrm>
            <a:off x="7161414" y="2330556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&gt; 1 failure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74B9F43-4F7C-6C89-66DD-91EE89D60F61}"/>
              </a:ext>
            </a:extLst>
          </p:cNvPr>
          <p:cNvCxnSpPr>
            <a:cxnSpLocks/>
            <a:stCxn id="21" idx="2"/>
            <a:endCxn id="6" idx="0"/>
          </p:cNvCxnSpPr>
          <p:nvPr/>
        </p:nvCxnSpPr>
        <p:spPr>
          <a:xfrm rot="16200000" flipH="1">
            <a:off x="5886141" y="2729876"/>
            <a:ext cx="608020" cy="1382625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62AE7C82-9656-8C82-2186-C07CE2E2DA13}"/>
              </a:ext>
            </a:extLst>
          </p:cNvPr>
          <p:cNvCxnSpPr>
            <a:cxnSpLocks/>
            <a:stCxn id="22" idx="2"/>
            <a:endCxn id="6" idx="0"/>
          </p:cNvCxnSpPr>
          <p:nvPr/>
        </p:nvCxnSpPr>
        <p:spPr>
          <a:xfrm rot="5400000">
            <a:off x="7196790" y="2801853"/>
            <a:ext cx="608020" cy="123867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A98E6058-4784-9FF7-3831-3969238B41A2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6746739" y="4589959"/>
            <a:ext cx="275804" cy="635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616382A-9B69-63CA-B516-E22FB6917675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5400000" flipH="1" flipV="1">
            <a:off x="4984223" y="3246149"/>
            <a:ext cx="3800835" cy="6355"/>
          </a:xfrm>
          <a:prstGeom prst="bentConnector5">
            <a:avLst>
              <a:gd name="adj1" fmla="val -6014"/>
              <a:gd name="adj2" fmla="val 35620016"/>
              <a:gd name="adj3" fmla="val 106014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AA168635-31A9-6C70-F5C8-EC079B0A6BBE}"/>
              </a:ext>
            </a:extLst>
          </p:cNvPr>
          <p:cNvSpPr txBox="1"/>
          <p:nvPr/>
        </p:nvSpPr>
        <p:spPr>
          <a:xfrm>
            <a:off x="4681760" y="1197821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153C4BDD-4BEF-A8F2-2C33-A0C2C4B16D2C}"/>
              </a:ext>
            </a:extLst>
          </p:cNvPr>
          <p:cNvSpPr txBox="1"/>
          <p:nvPr/>
        </p:nvSpPr>
        <p:spPr>
          <a:xfrm>
            <a:off x="6881463" y="1650240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487" name="Connector: Elbow 486">
            <a:extLst>
              <a:ext uri="{FF2B5EF4-FFF2-40B4-BE49-F238E27FC236}">
                <a16:creationId xmlns:a16="http://schemas.microsoft.com/office/drawing/2014/main" id="{6C9A255C-9889-6E6B-D40C-EF64D4CFAD2F}"/>
              </a:ext>
            </a:extLst>
          </p:cNvPr>
          <p:cNvCxnSpPr>
            <a:cxnSpLocks/>
            <a:stCxn id="9" idx="1"/>
            <a:endCxn id="491" idx="3"/>
          </p:cNvCxnSpPr>
          <p:nvPr/>
        </p:nvCxnSpPr>
        <p:spPr>
          <a:xfrm rot="10800000" flipV="1">
            <a:off x="4529359" y="1459427"/>
            <a:ext cx="654402" cy="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Rounded Rectangle 9">
            <a:extLst>
              <a:ext uri="{FF2B5EF4-FFF2-40B4-BE49-F238E27FC236}">
                <a16:creationId xmlns:a16="http://schemas.microsoft.com/office/drawing/2014/main" id="{6550E9FA-8270-BAB3-C2AC-3AE7B78ACF1A}"/>
              </a:ext>
            </a:extLst>
          </p:cNvPr>
          <p:cNvSpPr/>
          <p:nvPr/>
        </p:nvSpPr>
        <p:spPr>
          <a:xfrm>
            <a:off x="2950138" y="1250078"/>
            <a:ext cx="1579221" cy="41870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END FAILURE GENERATION</a:t>
            </a:r>
          </a:p>
        </p:txBody>
      </p:sp>
      <p:sp>
        <p:nvSpPr>
          <p:cNvPr id="494" name="Rounded Rectangle 3">
            <a:extLst>
              <a:ext uri="{FF2B5EF4-FFF2-40B4-BE49-F238E27FC236}">
                <a16:creationId xmlns:a16="http://schemas.microsoft.com/office/drawing/2014/main" id="{88381CD4-2608-84BD-4FE5-EA71BA40266F}"/>
              </a:ext>
            </a:extLst>
          </p:cNvPr>
          <p:cNvSpPr/>
          <p:nvPr/>
        </p:nvSpPr>
        <p:spPr>
          <a:xfrm>
            <a:off x="5183763" y="691399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START FAILURE GENERATION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495" name="Connector: Elbow 494">
            <a:extLst>
              <a:ext uri="{FF2B5EF4-FFF2-40B4-BE49-F238E27FC236}">
                <a16:creationId xmlns:a16="http://schemas.microsoft.com/office/drawing/2014/main" id="{63E54443-660D-C0A5-86DD-90CCBEEC3991}"/>
              </a:ext>
            </a:extLst>
          </p:cNvPr>
          <p:cNvCxnSpPr>
            <a:cxnSpLocks/>
            <a:stCxn id="494" idx="2"/>
            <a:endCxn id="9" idx="0"/>
          </p:cNvCxnSpPr>
          <p:nvPr/>
        </p:nvCxnSpPr>
        <p:spPr>
          <a:xfrm rot="5400000">
            <a:off x="6669583" y="1130671"/>
            <a:ext cx="436474" cy="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9">
            <a:extLst>
              <a:ext uri="{FF2B5EF4-FFF2-40B4-BE49-F238E27FC236}">
                <a16:creationId xmlns:a16="http://schemas.microsoft.com/office/drawing/2014/main" id="{B351E94F-9B3F-1714-1B13-732B4FEFADC9}"/>
              </a:ext>
            </a:extLst>
          </p:cNvPr>
          <p:cNvSpPr/>
          <p:nvPr/>
        </p:nvSpPr>
        <p:spPr>
          <a:xfrm>
            <a:off x="240365" y="241648"/>
            <a:ext cx="2410854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Failure generation</a:t>
            </a:r>
          </a:p>
        </p:txBody>
      </p:sp>
    </p:spTree>
    <p:extLst>
      <p:ext uri="{BB962C8B-B14F-4D97-AF65-F5344CB8AC3E}">
        <p14:creationId xmlns:p14="http://schemas.microsoft.com/office/powerpoint/2010/main" val="153800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06DB3-5A59-6B9F-7520-274FF5D0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04683F-98FB-B378-A560-7E3ED4ED0811}"/>
              </a:ext>
            </a:extLst>
          </p:cNvPr>
          <p:cNvSpPr/>
          <p:nvPr/>
        </p:nvSpPr>
        <p:spPr>
          <a:xfrm>
            <a:off x="4840458" y="4123622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Update operation merged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6B87BB-6873-BC9E-FFEF-40E7DC4013AD}"/>
              </a:ext>
            </a:extLst>
          </p:cNvPr>
          <p:cNvSpPr/>
          <p:nvPr/>
        </p:nvSpPr>
        <p:spPr>
          <a:xfrm>
            <a:off x="4846812" y="4632621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Update vessel use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1F81869-876B-A785-7C41-34C63AFFD543}"/>
              </a:ext>
            </a:extLst>
          </p:cNvPr>
          <p:cNvSpPr/>
          <p:nvPr/>
        </p:nvSpPr>
        <p:spPr>
          <a:xfrm>
            <a:off x="4840458" y="5129461"/>
            <a:ext cx="3408116" cy="41870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Randomly Failure distribution across the project lifetime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3E0AD811-5657-B2F4-BB33-D8B0EC3C19A8}"/>
              </a:ext>
            </a:extLst>
          </p:cNvPr>
          <p:cNvCxnSpPr>
            <a:cxnSpLocks/>
            <a:stCxn id="15" idx="2"/>
            <a:endCxn id="21" idx="0"/>
          </p:cNvCxnSpPr>
          <p:nvPr/>
        </p:nvCxnSpPr>
        <p:spPr>
          <a:xfrm rot="5400000">
            <a:off x="5527248" y="2277297"/>
            <a:ext cx="651912" cy="1382626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: Elbow 454">
            <a:extLst>
              <a:ext uri="{FF2B5EF4-FFF2-40B4-BE49-F238E27FC236}">
                <a16:creationId xmlns:a16="http://schemas.microsoft.com/office/drawing/2014/main" id="{5969549A-9225-F06F-6948-B0E45CA3C510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6403712" y="4485462"/>
            <a:ext cx="287963" cy="635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: Elbow 458">
            <a:extLst>
              <a:ext uri="{FF2B5EF4-FFF2-40B4-BE49-F238E27FC236}">
                <a16:creationId xmlns:a16="http://schemas.microsoft.com/office/drawing/2014/main" id="{CF357EC7-7108-0A10-65A6-CC81FC9FFC4A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 rot="16200000" flipH="1">
            <a:off x="6837896" y="2349274"/>
            <a:ext cx="651912" cy="123867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0110D64B-68B3-C31B-7B01-4DCB7EEC503B}"/>
              </a:ext>
            </a:extLst>
          </p:cNvPr>
          <p:cNvSpPr/>
          <p:nvPr/>
        </p:nvSpPr>
        <p:spPr>
          <a:xfrm>
            <a:off x="4846813" y="1747332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Any Operation to be merged?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D0E4408-F5F4-52DE-5CBA-0A99F11D0A22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 rot="5400000">
            <a:off x="6344497" y="2168388"/>
            <a:ext cx="406395" cy="635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6067F70D-50F0-4CE7-1AAF-40AD06844E72}"/>
              </a:ext>
            </a:extLst>
          </p:cNvPr>
          <p:cNvSpPr/>
          <p:nvPr/>
        </p:nvSpPr>
        <p:spPr>
          <a:xfrm>
            <a:off x="4840459" y="2374763"/>
            <a:ext cx="3408116" cy="267891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Evaluate type of intervention</a:t>
            </a:r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4BCAA8B2-C92E-4CCB-9452-91E893B3F66E}"/>
              </a:ext>
            </a:extLst>
          </p:cNvPr>
          <p:cNvSpPr/>
          <p:nvPr/>
        </p:nvSpPr>
        <p:spPr>
          <a:xfrm>
            <a:off x="4254853" y="3294566"/>
            <a:ext cx="1814075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Immediate merge module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2BA5F702-B364-ED7B-F687-9FC2CCF76062}"/>
              </a:ext>
            </a:extLst>
          </p:cNvPr>
          <p:cNvSpPr/>
          <p:nvPr/>
        </p:nvSpPr>
        <p:spPr>
          <a:xfrm>
            <a:off x="6876150" y="3294566"/>
            <a:ext cx="1814075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Deferred merge module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78DD0E-D40B-F2B3-A5EC-44D893C2956B}"/>
              </a:ext>
            </a:extLst>
          </p:cNvPr>
          <p:cNvSpPr txBox="1"/>
          <p:nvPr/>
        </p:nvSpPr>
        <p:spPr>
          <a:xfrm>
            <a:off x="5373843" y="2733557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immediate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004184-683E-C7F9-CDF1-BDAF16664914}"/>
              </a:ext>
            </a:extLst>
          </p:cNvPr>
          <p:cNvSpPr txBox="1"/>
          <p:nvPr/>
        </p:nvSpPr>
        <p:spPr>
          <a:xfrm>
            <a:off x="6824466" y="2728979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deferred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E2D9BDF0-96D6-702D-5627-994A34E9DDF5}"/>
              </a:ext>
            </a:extLst>
          </p:cNvPr>
          <p:cNvCxnSpPr>
            <a:cxnSpLocks/>
            <a:stCxn id="21" idx="2"/>
            <a:endCxn id="6" idx="0"/>
          </p:cNvCxnSpPr>
          <p:nvPr/>
        </p:nvCxnSpPr>
        <p:spPr>
          <a:xfrm rot="16200000" flipH="1">
            <a:off x="5549193" y="3128299"/>
            <a:ext cx="608020" cy="1382625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90BFF5D-4534-1F1B-CCD5-97C98F0640F8}"/>
              </a:ext>
            </a:extLst>
          </p:cNvPr>
          <p:cNvCxnSpPr>
            <a:cxnSpLocks/>
            <a:stCxn id="22" idx="2"/>
            <a:endCxn id="6" idx="0"/>
          </p:cNvCxnSpPr>
          <p:nvPr/>
        </p:nvCxnSpPr>
        <p:spPr>
          <a:xfrm rot="5400000">
            <a:off x="6859842" y="3200276"/>
            <a:ext cx="608020" cy="123867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784FBFBB-56EB-8D74-3DDC-2A09290FB63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6409791" y="4988382"/>
            <a:ext cx="275804" cy="635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2BB9E46-D739-F2D3-F5AA-0536F5207604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rot="5400000" flipH="1" flipV="1">
            <a:off x="4647275" y="3644572"/>
            <a:ext cx="3800835" cy="6355"/>
          </a:xfrm>
          <a:prstGeom prst="bentConnector5">
            <a:avLst>
              <a:gd name="adj1" fmla="val -6014"/>
              <a:gd name="adj2" fmla="val 35620016"/>
              <a:gd name="adj3" fmla="val 106014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5B703B8-7017-87A6-4D29-BFE53C5528F0}"/>
              </a:ext>
            </a:extLst>
          </p:cNvPr>
          <p:cNvSpPr txBox="1"/>
          <p:nvPr/>
        </p:nvSpPr>
        <p:spPr>
          <a:xfrm>
            <a:off x="4344812" y="1596244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250FE8CF-8881-D4D9-1FC4-F4B60EF2168F}"/>
              </a:ext>
            </a:extLst>
          </p:cNvPr>
          <p:cNvSpPr txBox="1"/>
          <p:nvPr/>
        </p:nvSpPr>
        <p:spPr>
          <a:xfrm>
            <a:off x="6544515" y="2048663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487" name="Connector: Elbow 486">
            <a:extLst>
              <a:ext uri="{FF2B5EF4-FFF2-40B4-BE49-F238E27FC236}">
                <a16:creationId xmlns:a16="http://schemas.microsoft.com/office/drawing/2014/main" id="{778052B7-AC73-96C0-2B69-E1A155B4CC2C}"/>
              </a:ext>
            </a:extLst>
          </p:cNvPr>
          <p:cNvCxnSpPr>
            <a:cxnSpLocks/>
            <a:stCxn id="9" idx="1"/>
            <a:endCxn id="491" idx="3"/>
          </p:cNvCxnSpPr>
          <p:nvPr/>
        </p:nvCxnSpPr>
        <p:spPr>
          <a:xfrm rot="10800000" flipV="1">
            <a:off x="4192411" y="1857850"/>
            <a:ext cx="654402" cy="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Rounded Rectangle 9">
            <a:extLst>
              <a:ext uri="{FF2B5EF4-FFF2-40B4-BE49-F238E27FC236}">
                <a16:creationId xmlns:a16="http://schemas.microsoft.com/office/drawing/2014/main" id="{68C43DF2-102F-6512-4B1A-D8959FA3981E}"/>
              </a:ext>
            </a:extLst>
          </p:cNvPr>
          <p:cNvSpPr/>
          <p:nvPr/>
        </p:nvSpPr>
        <p:spPr>
          <a:xfrm>
            <a:off x="2613190" y="1648501"/>
            <a:ext cx="1579221" cy="41870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END merge operation</a:t>
            </a:r>
          </a:p>
        </p:txBody>
      </p:sp>
      <p:sp>
        <p:nvSpPr>
          <p:cNvPr id="494" name="Rounded Rectangle 3">
            <a:extLst>
              <a:ext uri="{FF2B5EF4-FFF2-40B4-BE49-F238E27FC236}">
                <a16:creationId xmlns:a16="http://schemas.microsoft.com/office/drawing/2014/main" id="{70A0BDD5-CCCA-C239-5594-AD0689AD212B}"/>
              </a:ext>
            </a:extLst>
          </p:cNvPr>
          <p:cNvSpPr/>
          <p:nvPr/>
        </p:nvSpPr>
        <p:spPr>
          <a:xfrm>
            <a:off x="4846815" y="1089822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Similar operation requirements classification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495" name="Connector: Elbow 494">
            <a:extLst>
              <a:ext uri="{FF2B5EF4-FFF2-40B4-BE49-F238E27FC236}">
                <a16:creationId xmlns:a16="http://schemas.microsoft.com/office/drawing/2014/main" id="{88A79E59-7357-B2C6-4419-545A1FF10F18}"/>
              </a:ext>
            </a:extLst>
          </p:cNvPr>
          <p:cNvCxnSpPr>
            <a:cxnSpLocks/>
            <a:stCxn id="494" idx="2"/>
            <a:endCxn id="9" idx="0"/>
          </p:cNvCxnSpPr>
          <p:nvPr/>
        </p:nvCxnSpPr>
        <p:spPr>
          <a:xfrm rot="5400000">
            <a:off x="6332635" y="1529094"/>
            <a:ext cx="436474" cy="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513CE50D-B69A-BB52-E82A-64543947F8A8}"/>
              </a:ext>
            </a:extLst>
          </p:cNvPr>
          <p:cNvSpPr/>
          <p:nvPr/>
        </p:nvSpPr>
        <p:spPr>
          <a:xfrm>
            <a:off x="5617650" y="630313"/>
            <a:ext cx="1853734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START merge operation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9B2AAC8-3B05-94A5-EBC4-8C6B5B235439}"/>
              </a:ext>
            </a:extLst>
          </p:cNvPr>
          <p:cNvCxnSpPr>
            <a:cxnSpLocks/>
            <a:stCxn id="12" idx="2"/>
            <a:endCxn id="494" idx="0"/>
          </p:cNvCxnSpPr>
          <p:nvPr/>
        </p:nvCxnSpPr>
        <p:spPr>
          <a:xfrm rot="16200000" flipH="1">
            <a:off x="6458880" y="997828"/>
            <a:ext cx="177631" cy="6356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A7A453EB-B9E1-8E5D-8552-3CDDECFD7C8F}"/>
              </a:ext>
            </a:extLst>
          </p:cNvPr>
          <p:cNvSpPr/>
          <p:nvPr/>
        </p:nvSpPr>
        <p:spPr>
          <a:xfrm>
            <a:off x="240365" y="241648"/>
            <a:ext cx="1853734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Merge operation</a:t>
            </a:r>
          </a:p>
        </p:txBody>
      </p:sp>
    </p:spTree>
    <p:extLst>
      <p:ext uri="{BB962C8B-B14F-4D97-AF65-F5344CB8AC3E}">
        <p14:creationId xmlns:p14="http://schemas.microsoft.com/office/powerpoint/2010/main" val="1423563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5D7A9-C5F0-74A8-9B5A-05540BE1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0EC75B-830D-B090-0100-6CAEC6965D7E}"/>
              </a:ext>
            </a:extLst>
          </p:cNvPr>
          <p:cNvSpPr/>
          <p:nvPr/>
        </p:nvSpPr>
        <p:spPr>
          <a:xfrm>
            <a:off x="6576163" y="4689515"/>
            <a:ext cx="1704058" cy="44545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Update operation merged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086BDE6-E31B-C151-947E-20C5F7D83B93}"/>
              </a:ext>
            </a:extLst>
          </p:cNvPr>
          <p:cNvSpPr/>
          <p:nvPr/>
        </p:nvSpPr>
        <p:spPr>
          <a:xfrm>
            <a:off x="6755688" y="5402303"/>
            <a:ext cx="1345013" cy="34004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Update vessel use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6725C55A-0552-AA03-A065-6A5DEE91284F}"/>
              </a:ext>
            </a:extLst>
          </p:cNvPr>
          <p:cNvCxnSpPr>
            <a:cxnSpLocks/>
            <a:stCxn id="15" idx="2"/>
            <a:endCxn id="21" idx="0"/>
          </p:cNvCxnSpPr>
          <p:nvPr/>
        </p:nvCxnSpPr>
        <p:spPr>
          <a:xfrm rot="5400000">
            <a:off x="5896691" y="3067650"/>
            <a:ext cx="441379" cy="86699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: Elbow 454">
            <a:extLst>
              <a:ext uri="{FF2B5EF4-FFF2-40B4-BE49-F238E27FC236}">
                <a16:creationId xmlns:a16="http://schemas.microsoft.com/office/drawing/2014/main" id="{127C3318-ACB5-86F4-C5BC-BAAEB1D8540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7294524" y="5268632"/>
            <a:ext cx="267338" cy="3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2B866D30-146F-47F7-586F-D6C9A01126D4}"/>
              </a:ext>
            </a:extLst>
          </p:cNvPr>
          <p:cNvSpPr/>
          <p:nvPr/>
        </p:nvSpPr>
        <p:spPr>
          <a:xfrm>
            <a:off x="4846813" y="1747332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Any Operation to be merged?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B4BD09F-D010-ECC6-077B-89B60D43F21F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 rot="16200000" flipH="1">
            <a:off x="6331142" y="2188097"/>
            <a:ext cx="439462" cy="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195909F4-F07E-B31A-AFA0-AC30C2BCE0AA}"/>
              </a:ext>
            </a:extLst>
          </p:cNvPr>
          <p:cNvSpPr/>
          <p:nvPr/>
        </p:nvSpPr>
        <p:spPr>
          <a:xfrm>
            <a:off x="4846818" y="3012566"/>
            <a:ext cx="3408116" cy="267891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capacity respected?</a:t>
            </a:r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65006A40-BC6F-DDEF-8848-2C88B8606E69}"/>
              </a:ext>
            </a:extLst>
          </p:cNvPr>
          <p:cNvSpPr/>
          <p:nvPr/>
        </p:nvSpPr>
        <p:spPr>
          <a:xfrm>
            <a:off x="5080600" y="3721836"/>
            <a:ext cx="1206567" cy="355854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Use a new vessel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A71003-8AE9-3179-4E3A-F163C6108A90}"/>
              </a:ext>
            </a:extLst>
          </p:cNvPr>
          <p:cNvSpPr txBox="1"/>
          <p:nvPr/>
        </p:nvSpPr>
        <p:spPr>
          <a:xfrm>
            <a:off x="7417184" y="4422177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71F5A5-438C-0178-8A73-2CFAA243CF0A}"/>
              </a:ext>
            </a:extLst>
          </p:cNvPr>
          <p:cNvSpPr txBox="1"/>
          <p:nvPr/>
        </p:nvSpPr>
        <p:spPr>
          <a:xfrm>
            <a:off x="6882836" y="4174177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7B4D259B-3BE9-6282-3DC5-C1F4123B192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 flipH="1">
            <a:off x="4992023" y="3306180"/>
            <a:ext cx="3995019" cy="877324"/>
          </a:xfrm>
          <a:prstGeom prst="bentConnector5">
            <a:avLst>
              <a:gd name="adj1" fmla="val -5722"/>
              <a:gd name="adj2" fmla="val 343107"/>
              <a:gd name="adj3" fmla="val 105722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568BE32-DB55-9042-05B4-F1428CD463EE}"/>
              </a:ext>
            </a:extLst>
          </p:cNvPr>
          <p:cNvSpPr txBox="1"/>
          <p:nvPr/>
        </p:nvSpPr>
        <p:spPr>
          <a:xfrm>
            <a:off x="8319703" y="1617392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3931BDEE-2DD6-9D06-D790-4AC292D29F8E}"/>
              </a:ext>
            </a:extLst>
          </p:cNvPr>
          <p:cNvSpPr txBox="1"/>
          <p:nvPr/>
        </p:nvSpPr>
        <p:spPr>
          <a:xfrm>
            <a:off x="6198180" y="1977216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487" name="Connector: Elbow 486">
            <a:extLst>
              <a:ext uri="{FF2B5EF4-FFF2-40B4-BE49-F238E27FC236}">
                <a16:creationId xmlns:a16="http://schemas.microsoft.com/office/drawing/2014/main" id="{DCD3339F-7436-3B3F-EFA4-654EC211246A}"/>
              </a:ext>
            </a:extLst>
          </p:cNvPr>
          <p:cNvCxnSpPr>
            <a:cxnSpLocks/>
            <a:stCxn id="9" idx="3"/>
            <a:endCxn id="491" idx="1"/>
          </p:cNvCxnSpPr>
          <p:nvPr/>
        </p:nvCxnSpPr>
        <p:spPr>
          <a:xfrm>
            <a:off x="8254929" y="1857850"/>
            <a:ext cx="535771" cy="442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Rounded Rectangle 9">
            <a:extLst>
              <a:ext uri="{FF2B5EF4-FFF2-40B4-BE49-F238E27FC236}">
                <a16:creationId xmlns:a16="http://schemas.microsoft.com/office/drawing/2014/main" id="{35029503-42D5-084C-B9BC-6E7585185CE3}"/>
              </a:ext>
            </a:extLst>
          </p:cNvPr>
          <p:cNvSpPr/>
          <p:nvPr/>
        </p:nvSpPr>
        <p:spPr>
          <a:xfrm>
            <a:off x="8790700" y="1747332"/>
            <a:ext cx="1579221" cy="229884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END merge operation</a:t>
            </a:r>
          </a:p>
        </p:txBody>
      </p:sp>
      <p:sp>
        <p:nvSpPr>
          <p:cNvPr id="494" name="Rounded Rectangle 3">
            <a:extLst>
              <a:ext uri="{FF2B5EF4-FFF2-40B4-BE49-F238E27FC236}">
                <a16:creationId xmlns:a16="http://schemas.microsoft.com/office/drawing/2014/main" id="{F2A6BE20-5D5E-48FC-4E89-B7B966ACCF9A}"/>
              </a:ext>
            </a:extLst>
          </p:cNvPr>
          <p:cNvSpPr/>
          <p:nvPr/>
        </p:nvSpPr>
        <p:spPr>
          <a:xfrm>
            <a:off x="4846815" y="1089822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Similar operation requirements classification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495" name="Connector: Elbow 494">
            <a:extLst>
              <a:ext uri="{FF2B5EF4-FFF2-40B4-BE49-F238E27FC236}">
                <a16:creationId xmlns:a16="http://schemas.microsoft.com/office/drawing/2014/main" id="{16D2C506-B93E-2247-6434-02C1D0E019BE}"/>
              </a:ext>
            </a:extLst>
          </p:cNvPr>
          <p:cNvCxnSpPr>
            <a:cxnSpLocks/>
            <a:stCxn id="494" idx="2"/>
            <a:endCxn id="9" idx="0"/>
          </p:cNvCxnSpPr>
          <p:nvPr/>
        </p:nvCxnSpPr>
        <p:spPr>
          <a:xfrm rot="5400000">
            <a:off x="6332635" y="1529094"/>
            <a:ext cx="436474" cy="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00033CE8-93DD-635C-767C-3D4FB55436A6}"/>
              </a:ext>
            </a:extLst>
          </p:cNvPr>
          <p:cNvSpPr/>
          <p:nvPr/>
        </p:nvSpPr>
        <p:spPr>
          <a:xfrm>
            <a:off x="5328764" y="604747"/>
            <a:ext cx="2444220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START merge immediate operation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7246FCB-CCD9-1671-14DF-0EE90AC8D0F7}"/>
              </a:ext>
            </a:extLst>
          </p:cNvPr>
          <p:cNvCxnSpPr>
            <a:cxnSpLocks/>
            <a:stCxn id="12" idx="2"/>
            <a:endCxn id="494" idx="0"/>
          </p:cNvCxnSpPr>
          <p:nvPr/>
        </p:nvCxnSpPr>
        <p:spPr>
          <a:xfrm rot="5400000">
            <a:off x="6449276" y="988223"/>
            <a:ext cx="203197" cy="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49905B05-7DDC-39DB-248C-0FC062F82F5F}"/>
              </a:ext>
            </a:extLst>
          </p:cNvPr>
          <p:cNvSpPr/>
          <p:nvPr/>
        </p:nvSpPr>
        <p:spPr>
          <a:xfrm>
            <a:off x="240364" y="241648"/>
            <a:ext cx="2053751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Merge immediate operation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ECF50221-4DB1-D41A-E05C-34CB8AD60FD5}"/>
              </a:ext>
            </a:extLst>
          </p:cNvPr>
          <p:cNvSpPr/>
          <p:nvPr/>
        </p:nvSpPr>
        <p:spPr>
          <a:xfrm>
            <a:off x="5643837" y="2407830"/>
            <a:ext cx="1814075" cy="3462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Simultaneous operation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Drop-off personnel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DE7C67-A937-E607-FA50-02E063C0FA50}"/>
              </a:ext>
            </a:extLst>
          </p:cNvPr>
          <p:cNvSpPr txBox="1"/>
          <p:nvPr/>
        </p:nvSpPr>
        <p:spPr>
          <a:xfrm>
            <a:off x="5705752" y="3260170"/>
            <a:ext cx="419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003D16C-9C35-6476-3958-C44A8790E78B}"/>
              </a:ext>
            </a:extLst>
          </p:cNvPr>
          <p:cNvCxnSpPr>
            <a:cxnSpLocks/>
            <a:stCxn id="21" idx="2"/>
            <a:endCxn id="28" idx="0"/>
          </p:cNvCxnSpPr>
          <p:nvPr/>
        </p:nvCxnSpPr>
        <p:spPr>
          <a:xfrm rot="5400000" flipH="1" flipV="1">
            <a:off x="5282449" y="2809264"/>
            <a:ext cx="1669860" cy="866991"/>
          </a:xfrm>
          <a:prstGeom prst="bentConnector5">
            <a:avLst>
              <a:gd name="adj1" fmla="val -9154"/>
              <a:gd name="adj2" fmla="val -122863"/>
              <a:gd name="adj3" fmla="val 11369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D684311-6961-6ADD-AB1A-20FA36F66644}"/>
              </a:ext>
            </a:extLst>
          </p:cNvPr>
          <p:cNvSpPr txBox="1"/>
          <p:nvPr/>
        </p:nvSpPr>
        <p:spPr>
          <a:xfrm>
            <a:off x="6753346" y="3260170"/>
            <a:ext cx="419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5A7173A-A0ED-AC2F-0A46-B082F08F7BC5}"/>
              </a:ext>
            </a:extLst>
          </p:cNvPr>
          <p:cNvCxnSpPr>
            <a:cxnSpLocks/>
            <a:stCxn id="28" idx="2"/>
            <a:endCxn id="15" idx="0"/>
          </p:cNvCxnSpPr>
          <p:nvPr/>
        </p:nvCxnSpPr>
        <p:spPr>
          <a:xfrm rot="16200000" flipH="1">
            <a:off x="6421647" y="2883337"/>
            <a:ext cx="258456" cy="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: Elbow 466">
            <a:extLst>
              <a:ext uri="{FF2B5EF4-FFF2-40B4-BE49-F238E27FC236}">
                <a16:creationId xmlns:a16="http://schemas.microsoft.com/office/drawing/2014/main" id="{45E99EDD-901C-E636-7978-00785316B650}"/>
              </a:ext>
            </a:extLst>
          </p:cNvPr>
          <p:cNvCxnSpPr>
            <a:cxnSpLocks/>
            <a:stCxn id="15" idx="2"/>
            <a:endCxn id="471" idx="0"/>
          </p:cNvCxnSpPr>
          <p:nvPr/>
        </p:nvCxnSpPr>
        <p:spPr>
          <a:xfrm rot="16200000" flipH="1">
            <a:off x="6771274" y="3060059"/>
            <a:ext cx="436519" cy="87731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Rounded Rectangle 5">
            <a:extLst>
              <a:ext uri="{FF2B5EF4-FFF2-40B4-BE49-F238E27FC236}">
                <a16:creationId xmlns:a16="http://schemas.microsoft.com/office/drawing/2014/main" id="{1C409492-D078-C06C-0E9F-74D47FAF0963}"/>
              </a:ext>
            </a:extLst>
          </p:cNvPr>
          <p:cNvSpPr/>
          <p:nvPr/>
        </p:nvSpPr>
        <p:spPr>
          <a:xfrm>
            <a:off x="6426585" y="3716976"/>
            <a:ext cx="2003209" cy="360714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Operation merged exceed available/max shift hours? 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479" name="Connector: Elbow 478">
            <a:extLst>
              <a:ext uri="{FF2B5EF4-FFF2-40B4-BE49-F238E27FC236}">
                <a16:creationId xmlns:a16="http://schemas.microsoft.com/office/drawing/2014/main" id="{FE7FF384-FA4C-FF25-BAC1-C91E980D1FD4}"/>
              </a:ext>
            </a:extLst>
          </p:cNvPr>
          <p:cNvCxnSpPr>
            <a:cxnSpLocks/>
            <a:stCxn id="471" idx="2"/>
            <a:endCxn id="6" idx="0"/>
          </p:cNvCxnSpPr>
          <p:nvPr/>
        </p:nvCxnSpPr>
        <p:spPr>
          <a:xfrm rot="16200000" flipH="1">
            <a:off x="7122279" y="4383601"/>
            <a:ext cx="611825" cy="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: Elbow 481">
            <a:extLst>
              <a:ext uri="{FF2B5EF4-FFF2-40B4-BE49-F238E27FC236}">
                <a16:creationId xmlns:a16="http://schemas.microsoft.com/office/drawing/2014/main" id="{9ECE1B18-8F6A-CE93-6BEC-0A787C86C1A3}"/>
              </a:ext>
            </a:extLst>
          </p:cNvPr>
          <p:cNvCxnSpPr>
            <a:cxnSpLocks/>
            <a:stCxn id="471" idx="2"/>
            <a:endCxn id="484" idx="0"/>
          </p:cNvCxnSpPr>
          <p:nvPr/>
        </p:nvCxnSpPr>
        <p:spPr>
          <a:xfrm rot="5400000">
            <a:off x="6163376" y="3424700"/>
            <a:ext cx="611825" cy="1917804"/>
          </a:xfrm>
          <a:prstGeom prst="bentConnector3">
            <a:avLst>
              <a:gd name="adj1" fmla="val 53537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Rounded Rectangle 7">
            <a:extLst>
              <a:ext uri="{FF2B5EF4-FFF2-40B4-BE49-F238E27FC236}">
                <a16:creationId xmlns:a16="http://schemas.microsoft.com/office/drawing/2014/main" id="{A1EFF3DA-C961-CE65-7241-82FEE0782F8D}"/>
              </a:ext>
            </a:extLst>
          </p:cNvPr>
          <p:cNvSpPr/>
          <p:nvPr/>
        </p:nvSpPr>
        <p:spPr>
          <a:xfrm>
            <a:off x="4974614" y="4689515"/>
            <a:ext cx="1071543" cy="445449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Do not merge operations</a:t>
            </a:r>
          </a:p>
        </p:txBody>
      </p:sp>
      <p:cxnSp>
        <p:nvCxnSpPr>
          <p:cNvPr id="507" name="Connector: Elbow 506">
            <a:extLst>
              <a:ext uri="{FF2B5EF4-FFF2-40B4-BE49-F238E27FC236}">
                <a16:creationId xmlns:a16="http://schemas.microsoft.com/office/drawing/2014/main" id="{9DC6BB29-16D9-88D8-CAE6-6B1182BEF2C5}"/>
              </a:ext>
            </a:extLst>
          </p:cNvPr>
          <p:cNvCxnSpPr>
            <a:cxnSpLocks/>
            <a:stCxn id="484" idx="2"/>
            <a:endCxn id="9" idx="0"/>
          </p:cNvCxnSpPr>
          <p:nvPr/>
        </p:nvCxnSpPr>
        <p:spPr>
          <a:xfrm rot="5400000" flipH="1" flipV="1">
            <a:off x="4336812" y="2920905"/>
            <a:ext cx="3387632" cy="1040485"/>
          </a:xfrm>
          <a:prstGeom prst="bentConnector5">
            <a:avLst>
              <a:gd name="adj1" fmla="val -6748"/>
              <a:gd name="adj2" fmla="val -104783"/>
              <a:gd name="adj3" fmla="val 106748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48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00C9-6BA5-1A7E-25F2-4C590AA6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9ABF22-976D-035B-9BB0-C4AC8CFE7E9C}"/>
              </a:ext>
            </a:extLst>
          </p:cNvPr>
          <p:cNvSpPr/>
          <p:nvPr/>
        </p:nvSpPr>
        <p:spPr>
          <a:xfrm>
            <a:off x="6502812" y="5576403"/>
            <a:ext cx="1704058" cy="474429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Update operation merged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557DD3-8BC3-E5ED-2B02-B17193E95A9A}"/>
              </a:ext>
            </a:extLst>
          </p:cNvPr>
          <p:cNvSpPr/>
          <p:nvPr/>
        </p:nvSpPr>
        <p:spPr>
          <a:xfrm>
            <a:off x="6682332" y="6247693"/>
            <a:ext cx="1345013" cy="34004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Update vessel use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81615D68-61CA-2CE4-D522-B7E8905C86A2}"/>
              </a:ext>
            </a:extLst>
          </p:cNvPr>
          <p:cNvCxnSpPr>
            <a:cxnSpLocks/>
            <a:stCxn id="15" idx="2"/>
            <a:endCxn id="21" idx="0"/>
          </p:cNvCxnSpPr>
          <p:nvPr/>
        </p:nvCxnSpPr>
        <p:spPr>
          <a:xfrm rot="5400000">
            <a:off x="5682746" y="3751995"/>
            <a:ext cx="420923" cy="1168627"/>
          </a:xfrm>
          <a:prstGeom prst="bentConnector3">
            <a:avLst>
              <a:gd name="adj1" fmla="val 61569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: Elbow 454">
            <a:extLst>
              <a:ext uri="{FF2B5EF4-FFF2-40B4-BE49-F238E27FC236}">
                <a16:creationId xmlns:a16="http://schemas.microsoft.com/office/drawing/2014/main" id="{3A5DC1CC-78CD-9EA9-6D8B-C2F42838CCA8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5400000">
            <a:off x="7256410" y="6149261"/>
            <a:ext cx="196861" cy="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4E4CE976-A5E6-1C5F-0ACA-43F3B2E78B30}"/>
              </a:ext>
            </a:extLst>
          </p:cNvPr>
          <p:cNvSpPr/>
          <p:nvPr/>
        </p:nvSpPr>
        <p:spPr>
          <a:xfrm>
            <a:off x="4846813" y="1747332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Any Operation to be conducted?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2245607-BE5E-8AD5-F321-4B19F65621AA}"/>
              </a:ext>
            </a:extLst>
          </p:cNvPr>
          <p:cNvCxnSpPr>
            <a:cxnSpLocks/>
            <a:stCxn id="17" idx="2"/>
            <a:endCxn id="28" idx="0"/>
          </p:cNvCxnSpPr>
          <p:nvPr/>
        </p:nvCxnSpPr>
        <p:spPr>
          <a:xfrm rot="5400000">
            <a:off x="5623491" y="2187218"/>
            <a:ext cx="544794" cy="1134247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7E8FC847-64C5-C259-9BF4-D724A4167018}"/>
              </a:ext>
            </a:extLst>
          </p:cNvPr>
          <p:cNvSpPr/>
          <p:nvPr/>
        </p:nvSpPr>
        <p:spPr>
          <a:xfrm>
            <a:off x="4773462" y="3857956"/>
            <a:ext cx="3408116" cy="267891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capacity respected?</a:t>
            </a:r>
          </a:p>
        </p:txBody>
      </p:sp>
      <p:sp>
        <p:nvSpPr>
          <p:cNvPr id="21" name="Rounded Rectangle 5">
            <a:extLst>
              <a:ext uri="{FF2B5EF4-FFF2-40B4-BE49-F238E27FC236}">
                <a16:creationId xmlns:a16="http://schemas.microsoft.com/office/drawing/2014/main" id="{CC8D49AA-0610-A60B-71BD-4EA341A4F41E}"/>
              </a:ext>
            </a:extLst>
          </p:cNvPr>
          <p:cNvSpPr/>
          <p:nvPr/>
        </p:nvSpPr>
        <p:spPr>
          <a:xfrm>
            <a:off x="4705609" y="4546770"/>
            <a:ext cx="1206567" cy="521749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 vessel is available?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614A88-92A0-0BCD-8E58-754822F66343}"/>
              </a:ext>
            </a:extLst>
          </p:cNvPr>
          <p:cNvSpPr txBox="1"/>
          <p:nvPr/>
        </p:nvSpPr>
        <p:spPr>
          <a:xfrm>
            <a:off x="7354835" y="5261365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D07F7D-E2C3-2CC4-2B98-345029B6C15A}"/>
              </a:ext>
            </a:extLst>
          </p:cNvPr>
          <p:cNvSpPr txBox="1"/>
          <p:nvPr/>
        </p:nvSpPr>
        <p:spPr>
          <a:xfrm>
            <a:off x="6814262" y="5072108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406283CF-48D3-3A28-6EBB-B15F2B3946A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 flipH="1">
            <a:off x="4532650" y="3765553"/>
            <a:ext cx="4840409" cy="803968"/>
          </a:xfrm>
          <a:prstGeom prst="bentConnector5">
            <a:avLst>
              <a:gd name="adj1" fmla="val -3717"/>
              <a:gd name="adj2" fmla="val 386826"/>
              <a:gd name="adj3" fmla="val 104723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19B02C62-5E62-DDB7-11BE-22AB1E5EBAA5}"/>
              </a:ext>
            </a:extLst>
          </p:cNvPr>
          <p:cNvSpPr txBox="1"/>
          <p:nvPr/>
        </p:nvSpPr>
        <p:spPr>
          <a:xfrm>
            <a:off x="8319703" y="1617392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39A2C672-BECA-8BC3-B30F-969FDBE13777}"/>
              </a:ext>
            </a:extLst>
          </p:cNvPr>
          <p:cNvSpPr txBox="1"/>
          <p:nvPr/>
        </p:nvSpPr>
        <p:spPr>
          <a:xfrm>
            <a:off x="6198180" y="1977216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487" name="Connector: Elbow 486">
            <a:extLst>
              <a:ext uri="{FF2B5EF4-FFF2-40B4-BE49-F238E27FC236}">
                <a16:creationId xmlns:a16="http://schemas.microsoft.com/office/drawing/2014/main" id="{9E7224D2-AE17-33A4-7DBE-8A18EF843641}"/>
              </a:ext>
            </a:extLst>
          </p:cNvPr>
          <p:cNvCxnSpPr>
            <a:cxnSpLocks/>
            <a:stCxn id="9" idx="3"/>
            <a:endCxn id="491" idx="1"/>
          </p:cNvCxnSpPr>
          <p:nvPr/>
        </p:nvCxnSpPr>
        <p:spPr>
          <a:xfrm>
            <a:off x="8254929" y="1857850"/>
            <a:ext cx="535771" cy="4424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1" name="Rounded Rectangle 9">
            <a:extLst>
              <a:ext uri="{FF2B5EF4-FFF2-40B4-BE49-F238E27FC236}">
                <a16:creationId xmlns:a16="http://schemas.microsoft.com/office/drawing/2014/main" id="{72298357-6B1C-0349-1AF2-96101B4C714C}"/>
              </a:ext>
            </a:extLst>
          </p:cNvPr>
          <p:cNvSpPr/>
          <p:nvPr/>
        </p:nvSpPr>
        <p:spPr>
          <a:xfrm>
            <a:off x="8790700" y="1747332"/>
            <a:ext cx="1579221" cy="229884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END merge operation</a:t>
            </a:r>
          </a:p>
        </p:txBody>
      </p:sp>
      <p:sp>
        <p:nvSpPr>
          <p:cNvPr id="494" name="Rounded Rectangle 3">
            <a:extLst>
              <a:ext uri="{FF2B5EF4-FFF2-40B4-BE49-F238E27FC236}">
                <a16:creationId xmlns:a16="http://schemas.microsoft.com/office/drawing/2014/main" id="{84E1CF5E-6AFC-B859-1524-62BC370CCA9E}"/>
              </a:ext>
            </a:extLst>
          </p:cNvPr>
          <p:cNvSpPr/>
          <p:nvPr/>
        </p:nvSpPr>
        <p:spPr>
          <a:xfrm>
            <a:off x="4846815" y="1089822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Similar operation vessel requirement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495" name="Connector: Elbow 494">
            <a:extLst>
              <a:ext uri="{FF2B5EF4-FFF2-40B4-BE49-F238E27FC236}">
                <a16:creationId xmlns:a16="http://schemas.microsoft.com/office/drawing/2014/main" id="{5873C8AB-7041-F0D3-4695-850FA579A2DF}"/>
              </a:ext>
            </a:extLst>
          </p:cNvPr>
          <p:cNvCxnSpPr>
            <a:cxnSpLocks/>
            <a:stCxn id="494" idx="2"/>
            <a:endCxn id="9" idx="0"/>
          </p:cNvCxnSpPr>
          <p:nvPr/>
        </p:nvCxnSpPr>
        <p:spPr>
          <a:xfrm rot="5400000">
            <a:off x="6332635" y="1529094"/>
            <a:ext cx="436474" cy="2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CF4CDB93-E9B8-F9B0-964B-C00F897B4953}"/>
              </a:ext>
            </a:extLst>
          </p:cNvPr>
          <p:cNvSpPr/>
          <p:nvPr/>
        </p:nvSpPr>
        <p:spPr>
          <a:xfrm>
            <a:off x="5328764" y="604747"/>
            <a:ext cx="2444220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START merge deferred operation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9CB7FA0-4005-C6FB-FBEC-DB27B3C83ED5}"/>
              </a:ext>
            </a:extLst>
          </p:cNvPr>
          <p:cNvCxnSpPr>
            <a:cxnSpLocks/>
            <a:stCxn id="12" idx="2"/>
            <a:endCxn id="494" idx="0"/>
          </p:cNvCxnSpPr>
          <p:nvPr/>
        </p:nvCxnSpPr>
        <p:spPr>
          <a:xfrm rot="5400000">
            <a:off x="6449276" y="988223"/>
            <a:ext cx="203197" cy="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64A1E97A-89CB-DE50-8F39-205B4B51E0E7}"/>
              </a:ext>
            </a:extLst>
          </p:cNvPr>
          <p:cNvSpPr/>
          <p:nvPr/>
        </p:nvSpPr>
        <p:spPr>
          <a:xfrm>
            <a:off x="240364" y="241648"/>
            <a:ext cx="2053751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Merge deferred operation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C27684E9-CD66-3347-25F4-496C313F9A5A}"/>
              </a:ext>
            </a:extLst>
          </p:cNvPr>
          <p:cNvSpPr/>
          <p:nvPr/>
        </p:nvSpPr>
        <p:spPr>
          <a:xfrm>
            <a:off x="4421726" y="3026738"/>
            <a:ext cx="1814075" cy="402262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Simultaneous operation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Drop-off personnel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23B421-C17F-8748-FE0B-2B5D060647D7}"/>
              </a:ext>
            </a:extLst>
          </p:cNvPr>
          <p:cNvSpPr txBox="1"/>
          <p:nvPr/>
        </p:nvSpPr>
        <p:spPr>
          <a:xfrm>
            <a:off x="5668385" y="4156859"/>
            <a:ext cx="419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C073CD-2503-8CE0-FEFC-643C18EEEAEE}"/>
              </a:ext>
            </a:extLst>
          </p:cNvPr>
          <p:cNvSpPr txBox="1"/>
          <p:nvPr/>
        </p:nvSpPr>
        <p:spPr>
          <a:xfrm>
            <a:off x="6728510" y="4163625"/>
            <a:ext cx="419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37A8419-5447-AEEF-97F9-7635B2F09860}"/>
              </a:ext>
            </a:extLst>
          </p:cNvPr>
          <p:cNvCxnSpPr>
            <a:cxnSpLocks/>
            <a:stCxn id="28" idx="2"/>
            <a:endCxn id="15" idx="0"/>
          </p:cNvCxnSpPr>
          <p:nvPr/>
        </p:nvCxnSpPr>
        <p:spPr>
          <a:xfrm rot="16200000" flipH="1">
            <a:off x="5688664" y="3069100"/>
            <a:ext cx="428956" cy="1148756"/>
          </a:xfrm>
          <a:prstGeom prst="bentConnector3">
            <a:avLst>
              <a:gd name="adj1" fmla="val 55046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: Elbow 466">
            <a:extLst>
              <a:ext uri="{FF2B5EF4-FFF2-40B4-BE49-F238E27FC236}">
                <a16:creationId xmlns:a16="http://schemas.microsoft.com/office/drawing/2014/main" id="{1D2E04A3-1D8A-0929-E021-CE77EF5816B5}"/>
              </a:ext>
            </a:extLst>
          </p:cNvPr>
          <p:cNvCxnSpPr>
            <a:cxnSpLocks/>
            <a:stCxn id="15" idx="2"/>
            <a:endCxn id="471" idx="0"/>
          </p:cNvCxnSpPr>
          <p:nvPr/>
        </p:nvCxnSpPr>
        <p:spPr>
          <a:xfrm rot="16200000" flipH="1">
            <a:off x="6676412" y="3926955"/>
            <a:ext cx="479536" cy="877320"/>
          </a:xfrm>
          <a:prstGeom prst="bentConnector3">
            <a:avLst>
              <a:gd name="adj1" fmla="val 54513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Rounded Rectangle 5">
            <a:extLst>
              <a:ext uri="{FF2B5EF4-FFF2-40B4-BE49-F238E27FC236}">
                <a16:creationId xmlns:a16="http://schemas.microsoft.com/office/drawing/2014/main" id="{C88B4423-B025-664B-0146-1CAA35649702}"/>
              </a:ext>
            </a:extLst>
          </p:cNvPr>
          <p:cNvSpPr/>
          <p:nvPr/>
        </p:nvSpPr>
        <p:spPr>
          <a:xfrm>
            <a:off x="6353235" y="4605383"/>
            <a:ext cx="2003209" cy="41131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Operation merged exceed available/max shift hours? 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479" name="Connector: Elbow 478">
            <a:extLst>
              <a:ext uri="{FF2B5EF4-FFF2-40B4-BE49-F238E27FC236}">
                <a16:creationId xmlns:a16="http://schemas.microsoft.com/office/drawing/2014/main" id="{8ABA09CB-1895-4E17-9FF1-7ABE973C65C6}"/>
              </a:ext>
            </a:extLst>
          </p:cNvPr>
          <p:cNvCxnSpPr>
            <a:cxnSpLocks/>
            <a:stCxn id="471" idx="2"/>
            <a:endCxn id="6" idx="0"/>
          </p:cNvCxnSpPr>
          <p:nvPr/>
        </p:nvCxnSpPr>
        <p:spPr>
          <a:xfrm rot="16200000" flipH="1">
            <a:off x="7074985" y="5296547"/>
            <a:ext cx="559710" cy="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: Elbow 481">
            <a:extLst>
              <a:ext uri="{FF2B5EF4-FFF2-40B4-BE49-F238E27FC236}">
                <a16:creationId xmlns:a16="http://schemas.microsoft.com/office/drawing/2014/main" id="{DBF2FE3D-EB06-5CFB-CE97-80AD7040733A}"/>
              </a:ext>
            </a:extLst>
          </p:cNvPr>
          <p:cNvCxnSpPr>
            <a:cxnSpLocks/>
            <a:stCxn id="471" idx="2"/>
            <a:endCxn id="484" idx="0"/>
          </p:cNvCxnSpPr>
          <p:nvPr/>
        </p:nvCxnSpPr>
        <p:spPr>
          <a:xfrm rot="5400000">
            <a:off x="6244845" y="4412980"/>
            <a:ext cx="506282" cy="1713709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Rounded Rectangle 7">
            <a:extLst>
              <a:ext uri="{FF2B5EF4-FFF2-40B4-BE49-F238E27FC236}">
                <a16:creationId xmlns:a16="http://schemas.microsoft.com/office/drawing/2014/main" id="{110BF28E-07B3-3B8F-58A5-808524462410}"/>
              </a:ext>
            </a:extLst>
          </p:cNvPr>
          <p:cNvSpPr/>
          <p:nvPr/>
        </p:nvSpPr>
        <p:spPr>
          <a:xfrm>
            <a:off x="5105359" y="5522975"/>
            <a:ext cx="1071543" cy="584275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Do not merge Wait next available day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53DEECF1-038D-6BED-CB59-F4C9938551C4}"/>
              </a:ext>
            </a:extLst>
          </p:cNvPr>
          <p:cNvSpPr/>
          <p:nvPr/>
        </p:nvSpPr>
        <p:spPr>
          <a:xfrm>
            <a:off x="4758953" y="2214053"/>
            <a:ext cx="3408116" cy="267891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required at device?</a:t>
            </a: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85940FA6-6D25-E337-CB54-87F9FCDA4F16}"/>
              </a:ext>
            </a:extLst>
          </p:cNvPr>
          <p:cNvSpPr/>
          <p:nvPr/>
        </p:nvSpPr>
        <p:spPr>
          <a:xfrm>
            <a:off x="6550871" y="2927088"/>
            <a:ext cx="2074653" cy="555843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Consecutive operation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After completion of previous operation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FEBC450-46D4-5FD0-C9B8-1A35FBF70B7F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 rot="16200000" flipH="1">
            <a:off x="6803032" y="2141922"/>
            <a:ext cx="445144" cy="1125187"/>
          </a:xfrm>
          <a:prstGeom prst="bentConnector3">
            <a:avLst>
              <a:gd name="adj1" fmla="val 60939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6389132-5D9F-C72B-FF4F-75BDEF0077E0}"/>
              </a:ext>
            </a:extLst>
          </p:cNvPr>
          <p:cNvSpPr txBox="1"/>
          <p:nvPr/>
        </p:nvSpPr>
        <p:spPr>
          <a:xfrm>
            <a:off x="6783428" y="2516136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B9C172-C336-BC91-A17A-4C26F4A1D1AC}"/>
              </a:ext>
            </a:extLst>
          </p:cNvPr>
          <p:cNvSpPr txBox="1"/>
          <p:nvPr/>
        </p:nvSpPr>
        <p:spPr>
          <a:xfrm>
            <a:off x="5777445" y="2491601"/>
            <a:ext cx="958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457A78B-D49C-2039-CE13-17DA62277000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 rot="5400000">
            <a:off x="6845347" y="3115104"/>
            <a:ext cx="375025" cy="1110678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: Elbow 455">
            <a:extLst>
              <a:ext uri="{FF2B5EF4-FFF2-40B4-BE49-F238E27FC236}">
                <a16:creationId xmlns:a16="http://schemas.microsoft.com/office/drawing/2014/main" id="{911F3E88-CE6D-E08F-0324-C466116146FC}"/>
              </a:ext>
            </a:extLst>
          </p:cNvPr>
          <p:cNvCxnSpPr>
            <a:cxnSpLocks/>
            <a:stCxn id="21" idx="3"/>
            <a:endCxn id="471" idx="1"/>
          </p:cNvCxnSpPr>
          <p:nvPr/>
        </p:nvCxnSpPr>
        <p:spPr>
          <a:xfrm>
            <a:off x="5912176" y="4807645"/>
            <a:ext cx="441059" cy="3393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>
            <a:extLst>
              <a:ext uri="{FF2B5EF4-FFF2-40B4-BE49-F238E27FC236}">
                <a16:creationId xmlns:a16="http://schemas.microsoft.com/office/drawing/2014/main" id="{26E8436D-E2FE-9955-8615-972F46BD9C8E}"/>
              </a:ext>
            </a:extLst>
          </p:cNvPr>
          <p:cNvSpPr txBox="1"/>
          <p:nvPr/>
        </p:nvSpPr>
        <p:spPr>
          <a:xfrm>
            <a:off x="5922727" y="4585196"/>
            <a:ext cx="419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D516E221-5DC5-7B2E-E94C-595C06DDC3D2}"/>
              </a:ext>
            </a:extLst>
          </p:cNvPr>
          <p:cNvSpPr txBox="1"/>
          <p:nvPr/>
        </p:nvSpPr>
        <p:spPr>
          <a:xfrm>
            <a:off x="4967218" y="5064982"/>
            <a:ext cx="4199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cxnSp>
        <p:nvCxnSpPr>
          <p:cNvPr id="489" name="Connector: Elbow 488">
            <a:extLst>
              <a:ext uri="{FF2B5EF4-FFF2-40B4-BE49-F238E27FC236}">
                <a16:creationId xmlns:a16="http://schemas.microsoft.com/office/drawing/2014/main" id="{52C21DEA-9831-0E0E-0A93-8188E9636FD6}"/>
              </a:ext>
            </a:extLst>
          </p:cNvPr>
          <p:cNvCxnSpPr>
            <a:cxnSpLocks/>
            <a:stCxn id="21" idx="2"/>
            <a:endCxn id="484" idx="0"/>
          </p:cNvCxnSpPr>
          <p:nvPr/>
        </p:nvCxnSpPr>
        <p:spPr>
          <a:xfrm rot="16200000" flipH="1">
            <a:off x="5247784" y="5129628"/>
            <a:ext cx="454456" cy="332238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: Elbow 492">
            <a:extLst>
              <a:ext uri="{FF2B5EF4-FFF2-40B4-BE49-F238E27FC236}">
                <a16:creationId xmlns:a16="http://schemas.microsoft.com/office/drawing/2014/main" id="{FC2D69C4-ECD8-A707-B257-8CD28DF1A23C}"/>
              </a:ext>
            </a:extLst>
          </p:cNvPr>
          <p:cNvCxnSpPr>
            <a:cxnSpLocks/>
            <a:stCxn id="484" idx="3"/>
            <a:endCxn id="6" idx="1"/>
          </p:cNvCxnSpPr>
          <p:nvPr/>
        </p:nvCxnSpPr>
        <p:spPr>
          <a:xfrm flipV="1">
            <a:off x="6176902" y="5813618"/>
            <a:ext cx="325910" cy="1495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35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56512-27F1-688C-BA20-618C27948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422857A1-77FB-886A-05E7-BE7D090175AA}"/>
              </a:ext>
            </a:extLst>
          </p:cNvPr>
          <p:cNvSpPr/>
          <p:nvPr/>
        </p:nvSpPr>
        <p:spPr>
          <a:xfrm>
            <a:off x="4946633" y="2651483"/>
            <a:ext cx="1388988" cy="3905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Account as LT chart vessel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9A06B261-E84B-8BAB-50B7-F15D77CC649D}"/>
              </a:ext>
            </a:extLst>
          </p:cNvPr>
          <p:cNvSpPr txBox="1"/>
          <p:nvPr/>
        </p:nvSpPr>
        <p:spPr>
          <a:xfrm>
            <a:off x="6927071" y="2260903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2F14556D-73DD-A06B-58AD-B60188598A72}"/>
              </a:ext>
            </a:extLst>
          </p:cNvPr>
          <p:cNvSpPr txBox="1"/>
          <p:nvPr/>
        </p:nvSpPr>
        <p:spPr>
          <a:xfrm>
            <a:off x="5970190" y="2260903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YES</a:t>
            </a:r>
          </a:p>
        </p:txBody>
      </p:sp>
      <p:sp>
        <p:nvSpPr>
          <p:cNvPr id="494" name="Rounded Rectangle 3">
            <a:extLst>
              <a:ext uri="{FF2B5EF4-FFF2-40B4-BE49-F238E27FC236}">
                <a16:creationId xmlns:a16="http://schemas.microsoft.com/office/drawing/2014/main" id="{92BD11D4-1099-1143-6672-3F1938576AFF}"/>
              </a:ext>
            </a:extLst>
          </p:cNvPr>
          <p:cNvSpPr/>
          <p:nvPr/>
        </p:nvSpPr>
        <p:spPr>
          <a:xfrm>
            <a:off x="4946635" y="1959379"/>
            <a:ext cx="3408116" cy="221036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Evaluate if LT chart vessel available</a:t>
            </a:r>
            <a:endParaRPr sz="1200" dirty="0">
              <a:solidFill>
                <a:srgbClr val="000000"/>
              </a:solidFill>
            </a:endParaRPr>
          </a:p>
        </p:txBody>
      </p:sp>
      <p:cxnSp>
        <p:nvCxnSpPr>
          <p:cNvPr id="495" name="Connector: Elbow 494">
            <a:extLst>
              <a:ext uri="{FF2B5EF4-FFF2-40B4-BE49-F238E27FC236}">
                <a16:creationId xmlns:a16="http://schemas.microsoft.com/office/drawing/2014/main" id="{0A5D4BC1-E1B2-5825-6DBC-82289C0F9759}"/>
              </a:ext>
            </a:extLst>
          </p:cNvPr>
          <p:cNvCxnSpPr>
            <a:cxnSpLocks/>
            <a:stCxn id="494" idx="2"/>
            <a:endCxn id="9" idx="0"/>
          </p:cNvCxnSpPr>
          <p:nvPr/>
        </p:nvCxnSpPr>
        <p:spPr>
          <a:xfrm rot="5400000">
            <a:off x="5910376" y="1911166"/>
            <a:ext cx="471068" cy="1009566"/>
          </a:xfrm>
          <a:prstGeom prst="bentConnector3">
            <a:avLst>
              <a:gd name="adj1" fmla="val 62635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138B6B8-2046-604F-E844-C5D55B535F77}"/>
              </a:ext>
            </a:extLst>
          </p:cNvPr>
          <p:cNvSpPr/>
          <p:nvPr/>
        </p:nvSpPr>
        <p:spPr>
          <a:xfrm>
            <a:off x="5254382" y="1446940"/>
            <a:ext cx="2792623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Count number of days the vessel is used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C902749-9566-5BEB-1AAB-8FFF57F71F07}"/>
              </a:ext>
            </a:extLst>
          </p:cNvPr>
          <p:cNvCxnSpPr>
            <a:cxnSpLocks/>
            <a:stCxn id="12" idx="2"/>
            <a:endCxn id="494" idx="0"/>
          </p:cNvCxnSpPr>
          <p:nvPr/>
        </p:nvCxnSpPr>
        <p:spPr>
          <a:xfrm rot="5400000">
            <a:off x="6535414" y="1844098"/>
            <a:ext cx="230561" cy="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FC09A8BA-3AED-874E-79B3-999BE6D45593}"/>
              </a:ext>
            </a:extLst>
          </p:cNvPr>
          <p:cNvSpPr/>
          <p:nvPr/>
        </p:nvSpPr>
        <p:spPr>
          <a:xfrm>
            <a:off x="240364" y="241648"/>
            <a:ext cx="2053751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day counter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62AEE16C-C0F0-5D28-A008-D3A7756F0C6F}"/>
              </a:ext>
            </a:extLst>
          </p:cNvPr>
          <p:cNvSpPr/>
          <p:nvPr/>
        </p:nvSpPr>
        <p:spPr>
          <a:xfrm>
            <a:off x="4453134" y="3492486"/>
            <a:ext cx="2074653" cy="3905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use from start of operation to its </a:t>
            </a:r>
            <a:r>
              <a:rPr lang="en-US" sz="1200" b="1" dirty="0">
                <a:solidFill>
                  <a:srgbClr val="000000"/>
                </a:solidFill>
              </a:rPr>
              <a:t>actual</a:t>
            </a:r>
            <a:r>
              <a:rPr lang="en-US" sz="1200" dirty="0">
                <a:solidFill>
                  <a:srgbClr val="000000"/>
                </a:solidFill>
              </a:rPr>
              <a:t> end</a:t>
            </a: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2DD715D0-63CF-9C95-C52F-A8D55C9587F2}"/>
              </a:ext>
            </a:extLst>
          </p:cNvPr>
          <p:cNvSpPr/>
          <p:nvPr/>
        </p:nvSpPr>
        <p:spPr>
          <a:xfrm>
            <a:off x="5672167" y="4258183"/>
            <a:ext cx="2074653" cy="555843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Store calendar vessel use</a:t>
            </a:r>
            <a:endParaRPr sz="1200" dirty="0">
              <a:solidFill>
                <a:srgbClr val="000000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D48970-43DE-4544-815C-764EDBE6D99C}"/>
              </a:ext>
            </a:extLst>
          </p:cNvPr>
          <p:cNvSpPr/>
          <p:nvPr/>
        </p:nvSpPr>
        <p:spPr>
          <a:xfrm>
            <a:off x="6795622" y="2651483"/>
            <a:ext cx="1623901" cy="3905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Account as ST chart vessel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6FAC438-F4B4-A9E7-2668-7C2E382DDE2C}"/>
              </a:ext>
            </a:extLst>
          </p:cNvPr>
          <p:cNvCxnSpPr>
            <a:cxnSpLocks/>
            <a:stCxn id="494" idx="2"/>
            <a:endCxn id="4" idx="0"/>
          </p:cNvCxnSpPr>
          <p:nvPr/>
        </p:nvCxnSpPr>
        <p:spPr>
          <a:xfrm rot="16200000" flipH="1">
            <a:off x="6893599" y="1937509"/>
            <a:ext cx="471068" cy="956880"/>
          </a:xfrm>
          <a:prstGeom prst="bentConnector3">
            <a:avLst>
              <a:gd name="adj1" fmla="val 62634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5">
            <a:extLst>
              <a:ext uri="{FF2B5EF4-FFF2-40B4-BE49-F238E27FC236}">
                <a16:creationId xmlns:a16="http://schemas.microsoft.com/office/drawing/2014/main" id="{E3CC2D62-340A-DF10-BEA1-D0E889936C20}"/>
              </a:ext>
            </a:extLst>
          </p:cNvPr>
          <p:cNvSpPr/>
          <p:nvPr/>
        </p:nvSpPr>
        <p:spPr>
          <a:xfrm>
            <a:off x="6750514" y="3492486"/>
            <a:ext cx="2074653" cy="3905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use from start of operation to its </a:t>
            </a:r>
            <a:r>
              <a:rPr lang="en-US" sz="1200" b="1" dirty="0">
                <a:solidFill>
                  <a:srgbClr val="000000"/>
                </a:solidFill>
              </a:rPr>
              <a:t>contract</a:t>
            </a:r>
            <a:r>
              <a:rPr lang="en-US" sz="1200" dirty="0">
                <a:solidFill>
                  <a:srgbClr val="000000"/>
                </a:solidFill>
              </a:rPr>
              <a:t> end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92BEE26-205B-5227-D639-B72559812C8B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7472496" y="3177140"/>
            <a:ext cx="450423" cy="180268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2824083-EB69-B3BE-34AD-758813950D84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 rot="16200000" flipH="1">
            <a:off x="5912419" y="3461107"/>
            <a:ext cx="375117" cy="1219033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32E0A34-F700-71E1-C63D-F3ED78AD8468}"/>
              </a:ext>
            </a:extLst>
          </p:cNvPr>
          <p:cNvCxnSpPr>
            <a:cxnSpLocks/>
            <a:stCxn id="37" idx="2"/>
            <a:endCxn id="23" idx="0"/>
          </p:cNvCxnSpPr>
          <p:nvPr/>
        </p:nvCxnSpPr>
        <p:spPr>
          <a:xfrm rot="5400000">
            <a:off x="7061110" y="3531451"/>
            <a:ext cx="375117" cy="1078347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9">
            <a:extLst>
              <a:ext uri="{FF2B5EF4-FFF2-40B4-BE49-F238E27FC236}">
                <a16:creationId xmlns:a16="http://schemas.microsoft.com/office/drawing/2014/main" id="{E29CBAF1-73A1-083D-6358-206EB5A66ED2}"/>
              </a:ext>
            </a:extLst>
          </p:cNvPr>
          <p:cNvSpPr/>
          <p:nvPr/>
        </p:nvSpPr>
        <p:spPr>
          <a:xfrm>
            <a:off x="5254382" y="898065"/>
            <a:ext cx="2792623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Operation left conducted?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370B69-7B7C-1890-C4AA-4612747DEF3A}"/>
              </a:ext>
            </a:extLst>
          </p:cNvPr>
          <p:cNvSpPr txBox="1"/>
          <p:nvPr/>
        </p:nvSpPr>
        <p:spPr>
          <a:xfrm>
            <a:off x="8103632" y="832935"/>
            <a:ext cx="45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NO</a:t>
            </a:r>
          </a:p>
        </p:txBody>
      </p:sp>
      <p:sp>
        <p:nvSpPr>
          <p:cNvPr id="63" name="Rounded Rectangle 9">
            <a:extLst>
              <a:ext uri="{FF2B5EF4-FFF2-40B4-BE49-F238E27FC236}">
                <a16:creationId xmlns:a16="http://schemas.microsoft.com/office/drawing/2014/main" id="{EC72A961-E0AA-4A3D-EF72-B4CF74CE1D9E}"/>
              </a:ext>
            </a:extLst>
          </p:cNvPr>
          <p:cNvSpPr/>
          <p:nvPr/>
        </p:nvSpPr>
        <p:spPr>
          <a:xfrm>
            <a:off x="8548108" y="920129"/>
            <a:ext cx="1579221" cy="229884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END vessel counter</a:t>
            </a:r>
          </a:p>
        </p:txBody>
      </p:sp>
      <p:sp>
        <p:nvSpPr>
          <p:cNvPr id="448" name="Rounded Rectangle 9">
            <a:extLst>
              <a:ext uri="{FF2B5EF4-FFF2-40B4-BE49-F238E27FC236}">
                <a16:creationId xmlns:a16="http://schemas.microsoft.com/office/drawing/2014/main" id="{24EB5FFA-778E-BC9F-7469-4B4624287188}"/>
              </a:ext>
            </a:extLst>
          </p:cNvPr>
          <p:cNvSpPr/>
          <p:nvPr/>
        </p:nvSpPr>
        <p:spPr>
          <a:xfrm>
            <a:off x="5623817" y="338266"/>
            <a:ext cx="2053751" cy="28187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Vessel day counter</a:t>
            </a:r>
          </a:p>
        </p:txBody>
      </p:sp>
      <p:cxnSp>
        <p:nvCxnSpPr>
          <p:cNvPr id="449" name="Connector: Elbow 448">
            <a:extLst>
              <a:ext uri="{FF2B5EF4-FFF2-40B4-BE49-F238E27FC236}">
                <a16:creationId xmlns:a16="http://schemas.microsoft.com/office/drawing/2014/main" id="{70645C2A-C2A4-9D6C-4C4A-064F22C47A5B}"/>
              </a:ext>
            </a:extLst>
          </p:cNvPr>
          <p:cNvCxnSpPr>
            <a:cxnSpLocks/>
            <a:stCxn id="448" idx="2"/>
            <a:endCxn id="61" idx="0"/>
          </p:cNvCxnSpPr>
          <p:nvPr/>
        </p:nvCxnSpPr>
        <p:spPr>
          <a:xfrm rot="16200000" flipH="1">
            <a:off x="6511733" y="759103"/>
            <a:ext cx="277921" cy="1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: Elbow 451">
            <a:extLst>
              <a:ext uri="{FF2B5EF4-FFF2-40B4-BE49-F238E27FC236}">
                <a16:creationId xmlns:a16="http://schemas.microsoft.com/office/drawing/2014/main" id="{5F1CDCDE-8F12-6B96-958C-B1D51D081BCB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 flipV="1">
            <a:off x="8047005" y="1035071"/>
            <a:ext cx="501103" cy="3933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: Elbow 457">
            <a:extLst>
              <a:ext uri="{FF2B5EF4-FFF2-40B4-BE49-F238E27FC236}">
                <a16:creationId xmlns:a16="http://schemas.microsoft.com/office/drawing/2014/main" id="{8A76A5C3-DBD4-3F7E-8988-4419AB1C1869}"/>
              </a:ext>
            </a:extLst>
          </p:cNvPr>
          <p:cNvCxnSpPr>
            <a:cxnSpLocks/>
            <a:stCxn id="61" idx="2"/>
            <a:endCxn id="12" idx="0"/>
          </p:cNvCxnSpPr>
          <p:nvPr/>
        </p:nvCxnSpPr>
        <p:spPr>
          <a:xfrm rot="5400000">
            <a:off x="6517196" y="1313441"/>
            <a:ext cx="266997" cy="12700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: Elbow 460">
            <a:extLst>
              <a:ext uri="{FF2B5EF4-FFF2-40B4-BE49-F238E27FC236}">
                <a16:creationId xmlns:a16="http://schemas.microsoft.com/office/drawing/2014/main" id="{7D21FB46-82F4-5C0D-5347-2563345B8A27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rot="5400000">
            <a:off x="5340583" y="3191941"/>
            <a:ext cx="450423" cy="150666"/>
          </a:xfrm>
          <a:prstGeom prst="bentConnector3">
            <a:avLst>
              <a:gd name="adj1" fmla="val 50000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: Elbow 463">
            <a:extLst>
              <a:ext uri="{FF2B5EF4-FFF2-40B4-BE49-F238E27FC236}">
                <a16:creationId xmlns:a16="http://schemas.microsoft.com/office/drawing/2014/main" id="{C80A2541-536C-725C-7CFE-D42A272572E8}"/>
              </a:ext>
            </a:extLst>
          </p:cNvPr>
          <p:cNvCxnSpPr>
            <a:cxnSpLocks/>
            <a:stCxn id="23" idx="2"/>
            <a:endCxn id="61" idx="1"/>
          </p:cNvCxnSpPr>
          <p:nvPr/>
        </p:nvCxnSpPr>
        <p:spPr>
          <a:xfrm rot="5400000" flipH="1">
            <a:off x="4094427" y="2198959"/>
            <a:ext cx="3775022" cy="1455112"/>
          </a:xfrm>
          <a:prstGeom prst="bentConnector4">
            <a:avLst>
              <a:gd name="adj1" fmla="val -6056"/>
              <a:gd name="adj2" fmla="val 165536"/>
            </a:avLst>
          </a:prstGeom>
          <a:ln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81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401</Words>
  <Application>Microsoft Office PowerPoint</Application>
  <PresentationFormat>Widescreen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Riccardo Meda</dc:creator>
  <cp:keywords/>
  <dc:description>generated using python-pptx</dc:description>
  <cp:lastModifiedBy>Riccardo Meda</cp:lastModifiedBy>
  <cp:revision>6</cp:revision>
  <dcterms:created xsi:type="dcterms:W3CDTF">2013-01-27T09:14:16Z</dcterms:created>
  <dcterms:modified xsi:type="dcterms:W3CDTF">2026-07-17T16:28:03Z</dcterms:modified>
  <cp:category/>
</cp:coreProperties>
</file>